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answers the GM’s question: MAU is up 20% quarter on quarter but revenue is flat. Everything here comes from one run of our AI analyst agent on the product database, and every figure was re-computed independently with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facts carry the story. MAU grew almost 20%, but viewers grew less, about 14%. Recorded revenue fell 2.4%, and once the unusual Pix charges are re-priced it fell about 8%. The main gap is that a smaller share of active users paid. And payments on the three LatAm local methods started failing at very high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and third rows are the dashboard numbers the GM quoted. The highlighted rows are the better view: revenue with the unusual Pix charges re-priced at usual prices, and the share of active users who paid. The Pix adjustment is provisional, because the data has no currency or product field to confirm the charges are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audience grew, but the share of it that paid fell from about one in five to one in seven. So the problem is not that each payer spends less; fewer people pay at all. Part of the extra audience may not be real: 805 user-months in Q3 had a session but never watched anything, against 2 in Q2. The data has no bot flag, so we can’t confirm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problems on the same three LatAm payment methods. First, the share of payment attempts that fail went from single digits or low teens to around 60% on Pix, Oxxo and PSE. Other methods are not shown here. Second, from August Pix charges appear at amounts well above the usual prices, including two refunds. If those are errors, recorded revenue overstates Q3 by about $1,200. We need the processor’s decline codes and product data to confirm either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 extra audience came through the new affiliate network and TikTok, and through Indonesia, the Philippines and Vietnam. Those users barely pay: the affiliate network produced under $20 of revenue all quarter. Meanwhile spend moved away from Google Search, and the US audience and US revenue both shrank. This is a quality-of-growth concern; the data does not prove any one channel caused the conversion drop.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had one new premium title against seven in Q2. Paid viewing of premium content fell 17% and pay-per-view fell more, while free viewing grew. This is the weakest of the four findings: the timing lines up, but nothing here isolates the cause, and the PPV gap is only about $700 a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Billing comes first because it is the fastest money and the easiest to confirm: check whether the Pix amounts were intended, and get decline codes from the processor. Second, stop expanding channels whose users don’t pay until new cohorts prove they convert, and test whether Search can come back efficiently. The $7.4K figure is what a return to Q2 conversion would be worth; it is a target, not a promise. Third, test release cadence before blaming it. Fourth, change what the board sees so growth in sessions can’t hide a fall in paying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with the board about what is measured and what is inferred. The trends are solid. The explanations for them are patterns, not tested causes, and the Pix adjustment depends on whether those charges were mistakes. Each open question names the data we would need to close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anyone checking the work: the definitions behind every number, how the agent was run, and where the raw output lives. Two runs of the same agent agreed on the main story, and every figure on these slides was re-computed by hand with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4441"/>
            <a:ext cx="10566400" cy="417075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4441"/>
            <a:ext cx="10566400" cy="417075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995157"/>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A06A"/>
                </a:solidFill>
                <a:latin typeface="IBM Plex Sans" pitchFamily="34" charset="0"/>
                <a:ea typeface="IBM Plex Sans" pitchFamily="34" charset="-122"/>
                <a:cs typeface="IBM Plex Sans" pitchFamily="34" charset="-120"/>
              </a:rPr>
              <a:t>BOARD UPDATE · Q3 2026 · 29 OCTOBER</a:t>
            </a:r>
            <a:endParaRPr lang="en-US" sz="1200" dirty="0"/>
          </a:p>
        </p:txBody>
      </p:sp>
      <p:sp>
        <p:nvSpPr>
          <p:cNvPr id="3" name="Text 1"/>
          <p:cNvSpPr/>
          <p:nvPr>
            <p:ph type="title"/>
          </p:nvPr>
        </p:nvSpPr>
        <p:spPr>
          <a:xfrm>
            <a:off x="812800" y="2462477"/>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6F4EF"/>
                </a:solidFill>
                <a:latin typeface="Source Serif 4" pitchFamily="18" charset="0"/>
                <a:ea typeface="Source Serif 4" pitchFamily="18" charset="-122"/>
                <a:cs typeface="Source Serif 4" pitchFamily="18" charset="-120"/>
              </a:rPr>
              <a:t>Users are up.</a:t>
            </a:r>
            <a:endParaRPr lang="en-US" sz="6000" dirty="0"/>
          </a:p>
          <a:p>
            <a:pPr algn="l" indent="0" marL="0">
              <a:lnSpc>
                <a:spcPts val="6300"/>
              </a:lnSpc>
              <a:buNone/>
            </a:pPr>
            <a:r>
              <a:rPr lang="en-US" sz="6000" b="1" i="0" dirty="0">
                <a:solidFill>
                  <a:srgbClr val="F6F4EF"/>
                </a:solidFill>
                <a:latin typeface="Source Serif 4" pitchFamily="18" charset="0"/>
                <a:ea typeface="Source Serif 4" pitchFamily="18" charset="-122"/>
                <a:cs typeface="Source Serif 4" pitchFamily="18" charset="-120"/>
              </a:rPr>
              <a:t>Paying users aren’t.</a:t>
            </a:r>
            <a:endParaRPr lang="en-US" sz="6000" dirty="0"/>
          </a:p>
        </p:txBody>
      </p:sp>
      <p:sp>
        <p:nvSpPr>
          <p:cNvPr id="4" name="Text 2"/>
          <p:cNvSpPr/>
          <p:nvPr/>
        </p:nvSpPr>
        <p:spPr>
          <a:xfrm>
            <a:off x="812800" y="4316677"/>
            <a:ext cx="10883392"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9D2E0"/>
                </a:solidFill>
                <a:latin typeface="IBM Plex Sans" pitchFamily="34" charset="0"/>
                <a:ea typeface="IBM Plex Sans" pitchFamily="34" charset="-122"/>
                <a:cs typeface="IBM Plex Sans" pitchFamily="34" charset="-120"/>
              </a:rPr>
              <a:t>Why MAU grew 20% while revenue stayed flat, and what to do about it</a:t>
            </a:r>
            <a:endParaRPr lang="en-US" sz="2000" dirty="0"/>
          </a:p>
        </p:txBody>
      </p:sp>
      <p:sp>
        <p:nvSpPr>
          <p:cNvPr id="5"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6"/>
                </a:solidFill>
                <a:latin typeface="IBM Plex Sans" pitchFamily="34" charset="0"/>
                <a:ea typeface="IBM Plex Sans" pitchFamily="34" charset="-122"/>
                <a:cs typeface="IBM Plex Sans" pitchFamily="34" charset="-120"/>
              </a:rPr>
              <a:t>PocketToons · Analysis by the PocketToons analyst agent (gpt-6-luna) · every figure re-checked with SQL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21B"/>
                </a:solidFill>
                <a:latin typeface="IBM Plex Sans" pitchFamily="34" charset="0"/>
                <a:ea typeface="IBM Plex Sans" pitchFamily="34" charset="-122"/>
                <a:cs typeface="IBM Plex Sans" pitchFamily="34" charset="-120"/>
              </a:rPr>
              <a:t>THE ANSWER IN ONE PAGE</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ource Serif 4" pitchFamily="18" charset="0"/>
                <a:ea typeface="Source Serif 4" pitchFamily="18" charset="-122"/>
                <a:cs typeface="Source Serif 4" pitchFamily="18" charset="-120"/>
              </a:rPr>
              <a:t>More users, fewer payers</a:t>
            </a:r>
            <a:endParaRPr lang="en-US" sz="3200" dirty="0"/>
          </a:p>
        </p:txBody>
      </p:sp>
      <p:sp>
        <p:nvSpPr>
          <p:cNvPr id="4" name="Shape 2"/>
          <p:cNvSpPr/>
          <p:nvPr/>
        </p:nvSpPr>
        <p:spPr>
          <a:xfrm>
            <a:off x="815975" y="1776016"/>
            <a:ext cx="5175250" cy="1622623"/>
          </a:xfrm>
          <a:prstGeom prst="roundRect">
            <a:avLst>
              <a:gd name="adj" fmla="val 6066"/>
            </a:avLst>
          </a:prstGeom>
          <a:solidFill>
            <a:srgbClr val="FDFCF9"/>
          </a:solidFill>
          <a:ln w="6350">
            <a:solidFill>
              <a:srgbClr val="E2DED4"/>
            </a:solidFill>
            <a:prstDash val="solid"/>
          </a:ln>
        </p:spPr>
      </p:sp>
      <p:sp>
        <p:nvSpPr>
          <p:cNvPr id="5" name="Text 3"/>
          <p:cNvSpPr/>
          <p:nvPr/>
        </p:nvSpPr>
        <p:spPr>
          <a:xfrm>
            <a:off x="1071033" y="2031074"/>
            <a:ext cx="4805087"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Source Serif 4" pitchFamily="18" charset="0"/>
                <a:ea typeface="Source Serif 4" pitchFamily="18" charset="-122"/>
                <a:cs typeface="Source Serif 4" pitchFamily="18" charset="-120"/>
              </a:rPr>
              <a:t>+19.8% MAU</a:t>
            </a:r>
            <a:endParaRPr lang="en-US" sz="3600" dirty="0"/>
          </a:p>
        </p:txBody>
      </p:sp>
      <p:sp>
        <p:nvSpPr>
          <p:cNvPr id="6" name="Text 4"/>
          <p:cNvSpPr/>
          <p:nvPr/>
        </p:nvSpPr>
        <p:spPr>
          <a:xfrm>
            <a:off x="1071033" y="2610181"/>
            <a:ext cx="480508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656"/>
                </a:solidFill>
                <a:latin typeface="IBM Plex Sans" pitchFamily="34" charset="0"/>
                <a:ea typeface="IBM Plex Sans" pitchFamily="34" charset="-122"/>
                <a:cs typeface="IBM Plex Sans" pitchFamily="34" charset="-120"/>
              </a:rPr>
              <a:t>Users with a session, Q3 vs Q2. Users who actually watched grew 13.8%.</a:t>
            </a:r>
            <a:endParaRPr lang="en-US" sz="1500" dirty="0"/>
          </a:p>
        </p:txBody>
      </p:sp>
      <p:sp>
        <p:nvSpPr>
          <p:cNvPr id="7" name="Shape 5"/>
          <p:cNvSpPr/>
          <p:nvPr/>
        </p:nvSpPr>
        <p:spPr>
          <a:xfrm>
            <a:off x="6200775" y="1776016"/>
            <a:ext cx="5175250" cy="1622623"/>
          </a:xfrm>
          <a:prstGeom prst="roundRect">
            <a:avLst>
              <a:gd name="adj" fmla="val 6066"/>
            </a:avLst>
          </a:prstGeom>
          <a:solidFill>
            <a:srgbClr val="FDFCF9"/>
          </a:solidFill>
          <a:ln w="6350">
            <a:solidFill>
              <a:srgbClr val="E2DED4"/>
            </a:solidFill>
            <a:prstDash val="solid"/>
          </a:ln>
        </p:spPr>
      </p:sp>
      <p:sp>
        <p:nvSpPr>
          <p:cNvPr id="8" name="Text 6"/>
          <p:cNvSpPr/>
          <p:nvPr/>
        </p:nvSpPr>
        <p:spPr>
          <a:xfrm>
            <a:off x="6455833" y="2031074"/>
            <a:ext cx="4805087"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B4521B"/>
                </a:solidFill>
                <a:latin typeface="Source Serif 4" pitchFamily="18" charset="0"/>
                <a:ea typeface="Source Serif 4" pitchFamily="18" charset="-122"/>
                <a:cs typeface="Source Serif 4" pitchFamily="18" charset="-120"/>
              </a:rPr>
              <a:t>−2.4% revenue</a:t>
            </a:r>
            <a:endParaRPr lang="en-US" sz="3600" dirty="0"/>
          </a:p>
        </p:txBody>
      </p:sp>
      <p:sp>
        <p:nvSpPr>
          <p:cNvPr id="9" name="Text 7"/>
          <p:cNvSpPr/>
          <p:nvPr/>
        </p:nvSpPr>
        <p:spPr>
          <a:xfrm>
            <a:off x="6455833" y="2610181"/>
            <a:ext cx="480508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656"/>
                </a:solidFill>
                <a:latin typeface="IBM Plex Sans" pitchFamily="34" charset="0"/>
                <a:ea typeface="IBM Plex Sans" pitchFamily="34" charset="-122"/>
                <a:cs typeface="IBM Plex Sans" pitchFamily="34" charset="-120"/>
              </a:rPr>
              <a:t>Net revenue as recorded. Re-pricing unusual Pix charges gives −8.2%.</a:t>
            </a:r>
            <a:endParaRPr lang="en-US" sz="1500" dirty="0"/>
          </a:p>
        </p:txBody>
      </p:sp>
      <p:sp>
        <p:nvSpPr>
          <p:cNvPr id="10" name="Shape 8"/>
          <p:cNvSpPr/>
          <p:nvPr/>
        </p:nvSpPr>
        <p:spPr>
          <a:xfrm>
            <a:off x="815975" y="3608189"/>
            <a:ext cx="5175250" cy="1622623"/>
          </a:xfrm>
          <a:prstGeom prst="roundRect">
            <a:avLst>
              <a:gd name="adj" fmla="val 6066"/>
            </a:avLst>
          </a:prstGeom>
          <a:solidFill>
            <a:srgbClr val="FDFCF9"/>
          </a:solidFill>
          <a:ln w="6350">
            <a:solidFill>
              <a:srgbClr val="E2DED4"/>
            </a:solidFill>
            <a:prstDash val="solid"/>
          </a:ln>
        </p:spPr>
      </p:sp>
      <p:sp>
        <p:nvSpPr>
          <p:cNvPr id="11" name="Text 9"/>
          <p:cNvSpPr/>
          <p:nvPr/>
        </p:nvSpPr>
        <p:spPr>
          <a:xfrm>
            <a:off x="1071033" y="3863248"/>
            <a:ext cx="4805087"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B4521B"/>
                </a:solidFill>
                <a:latin typeface="Source Serif 4" pitchFamily="18" charset="0"/>
                <a:ea typeface="Source Serif 4" pitchFamily="18" charset="-122"/>
                <a:cs typeface="Source Serif 4" pitchFamily="18" charset="-120"/>
              </a:rPr>
              <a:t>20.5% → 14.3%</a:t>
            </a:r>
            <a:endParaRPr lang="en-US" sz="3600" dirty="0"/>
          </a:p>
        </p:txBody>
      </p:sp>
      <p:sp>
        <p:nvSpPr>
          <p:cNvPr id="12" name="Text 10"/>
          <p:cNvSpPr/>
          <p:nvPr/>
        </p:nvSpPr>
        <p:spPr>
          <a:xfrm>
            <a:off x="1071033" y="4442354"/>
            <a:ext cx="480508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656"/>
                </a:solidFill>
                <a:latin typeface="IBM Plex Sans" pitchFamily="34" charset="0"/>
                <a:ea typeface="IBM Plex Sans" pitchFamily="34" charset="-122"/>
                <a:cs typeface="IBM Plex Sans" pitchFamily="34" charset="-120"/>
              </a:rPr>
              <a:t>Share of active users who paid in the month: the core of the gap.</a:t>
            </a:r>
            <a:endParaRPr lang="en-US" sz="1500" dirty="0"/>
          </a:p>
        </p:txBody>
      </p:sp>
      <p:sp>
        <p:nvSpPr>
          <p:cNvPr id="13" name="Shape 11"/>
          <p:cNvSpPr/>
          <p:nvPr/>
        </p:nvSpPr>
        <p:spPr>
          <a:xfrm>
            <a:off x="6200775" y="3608189"/>
            <a:ext cx="5175250" cy="1622623"/>
          </a:xfrm>
          <a:prstGeom prst="roundRect">
            <a:avLst>
              <a:gd name="adj" fmla="val 6066"/>
            </a:avLst>
          </a:prstGeom>
          <a:solidFill>
            <a:srgbClr val="FDFCF9"/>
          </a:solidFill>
          <a:ln w="6350">
            <a:solidFill>
              <a:srgbClr val="E2DED4"/>
            </a:solidFill>
            <a:prstDash val="solid"/>
          </a:ln>
        </p:spPr>
      </p:sp>
      <p:sp>
        <p:nvSpPr>
          <p:cNvPr id="14" name="Text 12"/>
          <p:cNvSpPr/>
          <p:nvPr/>
        </p:nvSpPr>
        <p:spPr>
          <a:xfrm>
            <a:off x="6455833" y="3863248"/>
            <a:ext cx="4805087"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B4521B"/>
                </a:solidFill>
                <a:latin typeface="Source Serif 4" pitchFamily="18" charset="0"/>
                <a:ea typeface="Source Serif 4" pitchFamily="18" charset="-122"/>
                <a:cs typeface="Source Serif 4" pitchFamily="18" charset="-120"/>
              </a:rPr>
              <a:t>56–63% failing</a:t>
            </a:r>
            <a:endParaRPr lang="en-US" sz="3600" dirty="0"/>
          </a:p>
        </p:txBody>
      </p:sp>
      <p:sp>
        <p:nvSpPr>
          <p:cNvPr id="15" name="Text 13"/>
          <p:cNvSpPr/>
          <p:nvPr/>
        </p:nvSpPr>
        <p:spPr>
          <a:xfrm>
            <a:off x="6455833" y="4442354"/>
            <a:ext cx="480508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656"/>
                </a:solidFill>
                <a:latin typeface="IBM Plex Sans" pitchFamily="34" charset="0"/>
                <a:ea typeface="IBM Plex Sans" pitchFamily="34" charset="-122"/>
                <a:cs typeface="IBM Plex Sans" pitchFamily="34" charset="-120"/>
              </a:rPr>
              <a:t>Q3 failure rates on Pix, Oxxo and PSE payments, up from 6–14% in Q2.</a:t>
            </a:r>
            <a:endParaRPr lang="en-US" sz="1500" dirty="0"/>
          </a:p>
        </p:txBody>
      </p:sp>
      <p:sp>
        <p:nvSpPr>
          <p:cNvPr id="16" name="Text 14"/>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PocketToons · Q3 2026 board update</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21B"/>
                </a:solidFill>
                <a:latin typeface="IBM Plex Sans" pitchFamily="34" charset="0"/>
                <a:ea typeface="IBM Plex Sans" pitchFamily="34" charset="-122"/>
                <a:cs typeface="IBM Plex Sans" pitchFamily="34" charset="-120"/>
              </a:rPr>
              <a:t>THE NUMBERS</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ource Serif 4" pitchFamily="18" charset="0"/>
                <a:ea typeface="Source Serif 4" pitchFamily="18" charset="-122"/>
                <a:cs typeface="Source Serif 4" pitchFamily="18" charset="-120"/>
              </a:rPr>
              <a:t>The quarter in six numbers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5541"/>
          <a:ext cx="10553700" cy="2889250"/>
        </p:xfrm>
        <a:graphic>
          <a:graphicData uri="http://schemas.openxmlformats.org/drawingml/2006/table">
            <a:tbl>
              <a:tblPr/>
              <a:tblGrid>
                <a:gridCol w="4854702"/>
                <a:gridCol w="1899666"/>
                <a:gridCol w="1899666"/>
                <a:gridCol w="1899666"/>
              </a:tblGrid>
              <a:tr h="412750">
                <a:tc>
                  <a:txBody>
                    <a:bodyPr/>
                    <a:lstStyle/>
                    <a:p>
                      <a:pPr indent="0" marL="0">
                        <a:lnSpc>
                          <a:spcPts val="2100"/>
                        </a:lnSpc>
                        <a:buNone/>
                      </a:pPr>
                      <a:r>
                        <a:rPr lang="en-US" sz="1500" b="1" dirty="0">
                          <a:solidFill>
                            <a:srgbClr val="F6F4EF"/>
                          </a:solidFill>
                          <a:latin typeface="IBM Plex Sans" pitchFamily="34" charset="0"/>
                          <a:ea typeface="IBM Plex Sans" pitchFamily="34" charset="-122"/>
                          <a:cs typeface="IBM Plex Sans" pitchFamily="34" charset="-120"/>
                        </a:rPr>
                        <a:t>Metric</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2100"/>
                        </a:lnSpc>
                        <a:buNone/>
                      </a:pPr>
                      <a:r>
                        <a:rPr lang="en-US" sz="1500" b="1" dirty="0">
                          <a:solidFill>
                            <a:srgbClr val="F6F4EF"/>
                          </a:solidFill>
                          <a:latin typeface="IBM Plex Sans" pitchFamily="34" charset="0"/>
                          <a:ea typeface="IBM Plex Sans" pitchFamily="34" charset="-122"/>
                          <a:cs typeface="IBM Plex Sans" pitchFamily="34" charset="-120"/>
                        </a:rPr>
                        <a:t>Q2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2100"/>
                        </a:lnSpc>
                        <a:buNone/>
                      </a:pPr>
                      <a:r>
                        <a:rPr lang="en-US" sz="1500" b="1" dirty="0">
                          <a:solidFill>
                            <a:srgbClr val="F6F4EF"/>
                          </a:solidFill>
                          <a:latin typeface="IBM Plex Sans" pitchFamily="34" charset="0"/>
                          <a:ea typeface="IBM Plex Sans" pitchFamily="34" charset="-122"/>
                          <a:cs typeface="IBM Plex Sans" pitchFamily="34" charset="-120"/>
                        </a:rPr>
                        <a:t>Q3</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2100"/>
                        </a:lnSpc>
                        <a:buNone/>
                      </a:pPr>
                      <a:r>
                        <a:rPr lang="en-US" sz="1500" b="1" dirty="0">
                          <a:solidFill>
                            <a:srgbClr val="F6F4EF"/>
                          </a:solidFill>
                          <a:latin typeface="IBM Plex Sans" pitchFamily="34" charset="0"/>
                          <a:ea typeface="IBM Plex Sans" pitchFamily="34" charset="-122"/>
                          <a:cs typeface="IBM Plex Sans" pitchFamily="34" charset="-120"/>
                        </a:rPr>
                        <a:t>Change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MAU, users with a session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4,449</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5,328</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+19.8%</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Viewer MAU, users who watched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4,448</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5,060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+13.8%</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Net revenue, as recorded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$20,795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$20,302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2100"/>
                        </a:lnSpc>
                        <a:buNone/>
                      </a:pPr>
                      <a:r>
                        <a:rPr lang="en-US" sz="1500" dirty="0">
                          <a:solidFill>
                            <a:srgbClr val="B4521B"/>
                          </a:solidFill>
                          <a:latin typeface="IBM Plex Sans" pitchFamily="34" charset="0"/>
                          <a:ea typeface="IBM Plex Sans" pitchFamily="34" charset="-122"/>
                          <a:cs typeface="IBM Plex Sans" pitchFamily="34" charset="-120"/>
                        </a:rPr>
                        <a:t>−2.4%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Net revenue, Pix re-priced (provisional)</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8BA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1"/>
                      </a:solidFill>
                      <a:prstDash val="solid"/>
                      <a:round/>
                      <a:headEnd type="none" w="med" len="med"/>
                      <a:tailEnd type="none" w="med" len="med"/>
                    </a:lnB>
                    <a:solidFill>
                      <a:srgbClr val="FBE9DD"/>
                    </a:solidFill>
                  </a:tcPr>
                </a:tc>
                <a:tc>
                  <a:txBody>
                    <a:bodyPr/>
                    <a:lstStyle/>
                    <a:p>
                      <a:pPr algn="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$20,795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1"/>
                      </a:solidFill>
                      <a:prstDash val="solid"/>
                      <a:round/>
                      <a:headEnd type="none" w="med" len="med"/>
                      <a:tailEnd type="none" w="med" len="med"/>
                    </a:lnL>
                    <a:lnR w="12700" cap="flat" cmpd="sng" algn="ctr">
                      <a:solidFill>
                        <a:srgbClr val="C8BA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1"/>
                      </a:solidFill>
                      <a:prstDash val="solid"/>
                      <a:round/>
                      <a:headEnd type="none" w="med" len="med"/>
                      <a:tailEnd type="none" w="med" len="med"/>
                    </a:lnB>
                    <a:solidFill>
                      <a:srgbClr val="FBE9DD"/>
                    </a:solidFill>
                  </a:tcPr>
                </a:tc>
                <a:tc>
                  <a:txBody>
                    <a:bodyPr/>
                    <a:lstStyle/>
                    <a:p>
                      <a:pPr algn="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$19,085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1"/>
                      </a:solidFill>
                      <a:prstDash val="solid"/>
                      <a:round/>
                      <a:headEnd type="none" w="med" len="med"/>
                      <a:tailEnd type="none" w="med" len="med"/>
                    </a:lnL>
                    <a:lnR w="12700" cap="flat" cmpd="sng" algn="ctr">
                      <a:solidFill>
                        <a:srgbClr val="C8BA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1"/>
                      </a:solidFill>
                      <a:prstDash val="solid"/>
                      <a:round/>
                      <a:headEnd type="none" w="med" len="med"/>
                      <a:tailEnd type="none" w="med" len="med"/>
                    </a:lnB>
                    <a:solidFill>
                      <a:srgbClr val="FBE9DD"/>
                    </a:solidFill>
                  </a:tcPr>
                </a:tc>
                <a:tc>
                  <a:txBody>
                    <a:bodyPr/>
                    <a:lstStyle/>
                    <a:p>
                      <a:pPr algn="r" indent="0" marL="0">
                        <a:lnSpc>
                          <a:spcPts val="2100"/>
                        </a:lnSpc>
                        <a:buNone/>
                      </a:pPr>
                      <a:r>
                        <a:rPr lang="en-US" sz="1500" dirty="0">
                          <a:solidFill>
                            <a:srgbClr val="B4521B"/>
                          </a:solidFill>
                          <a:latin typeface="IBM Plex Sans" pitchFamily="34" charset="0"/>
                          <a:ea typeface="IBM Plex Sans" pitchFamily="34" charset="-122"/>
                          <a:cs typeface="IBM Plex Sans" pitchFamily="34" charset="-120"/>
                        </a:rPr>
                        <a:t>−8.2%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1"/>
                      </a:solidFill>
                      <a:prstDash val="solid"/>
                      <a:round/>
                      <a:headEnd type="none" w="med" len="med"/>
                      <a:tailEnd type="none" w="med" len="med"/>
                    </a:lnL>
                    <a:lnR w="12700" cap="flat" cmpd="sng" algn="ctr">
                      <a:solidFill>
                        <a:srgbClr val="C8BA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1"/>
                      </a:solidFill>
                      <a:prstDash val="solid"/>
                      <a:round/>
                      <a:headEnd type="none" w="med" len="med"/>
                      <a:tailEnd type="none" w="med" len="med"/>
                    </a:lnB>
                    <a:solidFill>
                      <a:srgbClr val="FBE9DD"/>
                    </a:solidFill>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Revenue per active user-month</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BA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$1.56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BA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$1.27</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BA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2100"/>
                        </a:lnSpc>
                        <a:buNone/>
                      </a:pPr>
                      <a:r>
                        <a:rPr lang="en-US" sz="1500" dirty="0">
                          <a:solidFill>
                            <a:srgbClr val="B4521B"/>
                          </a:solidFill>
                          <a:latin typeface="IBM Plex Sans" pitchFamily="34" charset="0"/>
                          <a:ea typeface="IBM Plex Sans" pitchFamily="34" charset="-122"/>
                          <a:cs typeface="IBM Plex Sans" pitchFamily="34" charset="-120"/>
                        </a:rPr>
                        <a:t>−$0.29</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BA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Payer conversion, active users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8BA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1"/>
                      </a:solidFill>
                      <a:prstDash val="solid"/>
                      <a:round/>
                      <a:headEnd type="none" w="med" len="med"/>
                      <a:tailEnd type="none" w="med" len="med"/>
                    </a:lnB>
                    <a:solidFill>
                      <a:srgbClr val="FBE9DD"/>
                    </a:solidFill>
                  </a:tcPr>
                </a:tc>
                <a:tc>
                  <a:txBody>
                    <a:bodyPr/>
                    <a:lstStyle/>
                    <a:p>
                      <a:pPr algn="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20.5%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1"/>
                      </a:solidFill>
                      <a:prstDash val="solid"/>
                      <a:round/>
                      <a:headEnd type="none" w="med" len="med"/>
                      <a:tailEnd type="none" w="med" len="med"/>
                    </a:lnL>
                    <a:lnR w="12700" cap="flat" cmpd="sng" algn="ctr">
                      <a:solidFill>
                        <a:srgbClr val="C8BA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1"/>
                      </a:solidFill>
                      <a:prstDash val="solid"/>
                      <a:round/>
                      <a:headEnd type="none" w="med" len="med"/>
                      <a:tailEnd type="none" w="med" len="med"/>
                    </a:lnB>
                    <a:solidFill>
                      <a:srgbClr val="FBE9DD"/>
                    </a:solidFill>
                  </a:tcPr>
                </a:tc>
                <a:tc>
                  <a:txBody>
                    <a:bodyPr/>
                    <a:lstStyle/>
                    <a:p>
                      <a:pPr algn="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14.3%</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1"/>
                      </a:solidFill>
                      <a:prstDash val="solid"/>
                      <a:round/>
                      <a:headEnd type="none" w="med" len="med"/>
                      <a:tailEnd type="none" w="med" len="med"/>
                    </a:lnL>
                    <a:lnR w="12700" cap="flat" cmpd="sng" algn="ctr">
                      <a:solidFill>
                        <a:srgbClr val="C8BA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1"/>
                      </a:solidFill>
                      <a:prstDash val="solid"/>
                      <a:round/>
                      <a:headEnd type="none" w="med" len="med"/>
                      <a:tailEnd type="none" w="med" len="med"/>
                    </a:lnB>
                    <a:solidFill>
                      <a:srgbClr val="FBE9DD"/>
                    </a:solidFill>
                  </a:tcPr>
                </a:tc>
                <a:tc>
                  <a:txBody>
                    <a:bodyPr/>
                    <a:lstStyle/>
                    <a:p>
                      <a:pPr algn="r" indent="0" marL="0">
                        <a:lnSpc>
                          <a:spcPts val="2100"/>
                        </a:lnSpc>
                        <a:buNone/>
                      </a:pPr>
                      <a:r>
                        <a:rPr lang="en-US" sz="1500" dirty="0">
                          <a:solidFill>
                            <a:srgbClr val="B4521B"/>
                          </a:solidFill>
                          <a:latin typeface="IBM Plex Sans" pitchFamily="34" charset="0"/>
                          <a:ea typeface="IBM Plex Sans" pitchFamily="34" charset="-122"/>
                          <a:cs typeface="IBM Plex Sans" pitchFamily="34" charset="-120"/>
                        </a:rPr>
                        <a:t>−6.2 pts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1"/>
                      </a:solidFill>
                      <a:prstDash val="solid"/>
                      <a:round/>
                      <a:headEnd type="none" w="med" len="med"/>
                      <a:tailEnd type="none" w="med" len="med"/>
                    </a:lnL>
                    <a:lnR w="12700" cap="flat" cmpd="sng" algn="ctr">
                      <a:solidFill>
                        <a:srgbClr val="C8BA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1"/>
                      </a:solidFill>
                      <a:prstDash val="solid"/>
                      <a:round/>
                      <a:headEnd type="none" w="med" len="med"/>
                      <a:tailEnd type="none" w="med" len="med"/>
                    </a:lnB>
                    <a:solidFill>
                      <a:srgbClr val="FBE9DD"/>
                    </a:solidFill>
                  </a:tcPr>
                </a:tc>
              </a:tr>
            </a:tbl>
          </a:graphicData>
        </a:graphic>
      </p:graphicFrame>
      <p:sp>
        <p:nvSpPr>
          <p:cNvPr id="5" name="Text 2"/>
          <p:cNvSpPr/>
          <p:nvPr/>
        </p:nvSpPr>
        <p:spPr>
          <a:xfrm>
            <a:off x="812800" y="4877991"/>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MAU figures are the average of the quarter’s three months. Revenue counts successful charges net of refunds; failed attempts are excluded. Highlighted rows are the ones the board should track.</a:t>
            </a:r>
            <a:endParaRPr lang="en-US" sz="1200" dirty="0"/>
          </a:p>
        </p:txBody>
      </p:sp>
      <p:sp>
        <p:nvSpPr>
          <p:cNvPr id="6" name="Text 3"/>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PocketToons · Q3 2026 board update</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21B"/>
                </a:solidFill>
                <a:latin typeface="IBM Plex Sans" pitchFamily="34" charset="0"/>
                <a:ea typeface="IBM Plex Sans" pitchFamily="34" charset="-122"/>
                <a:cs typeface="IBM Plex Sans" pitchFamily="34" charset="-120"/>
              </a:rPr>
              <a:t>FINDING 1 · HIGH CONFIDENCE</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ource Serif 4" pitchFamily="18" charset="0"/>
                <a:ea typeface="Source Serif 4" pitchFamily="18" charset="-122"/>
                <a:cs typeface="Source Serif 4" pitchFamily="18" charset="-120"/>
              </a:rPr>
              <a:t>More users, but a smaller share paid</a:t>
            </a:r>
            <a:endParaRPr lang="en-US" sz="3200" dirty="0"/>
          </a:p>
        </p:txBody>
      </p:sp>
      <p:sp>
        <p:nvSpPr>
          <p:cNvPr id="4" name="Text 2"/>
          <p:cNvSpPr/>
          <p:nvPr/>
        </p:nvSpPr>
        <p:spPr>
          <a:xfrm>
            <a:off x="812800" y="1772841"/>
            <a:ext cx="627888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656"/>
                </a:solidFill>
                <a:latin typeface="IBM Plex Sans" pitchFamily="34" charset="0"/>
                <a:ea typeface="IBM Plex Sans" pitchFamily="34" charset="-122"/>
                <a:cs typeface="IBM Plex Sans" pitchFamily="34" charset="-120"/>
              </a:rPr>
              <a:t>Share of active users who paid in the month</a:t>
            </a:r>
            <a:endParaRPr lang="en-US" sz="1500" dirty="0"/>
          </a:p>
        </p:txBody>
      </p:sp>
      <p:sp>
        <p:nvSpPr>
          <p:cNvPr id="5" name="Text 3"/>
          <p:cNvSpPr/>
          <p:nvPr/>
        </p:nvSpPr>
        <p:spPr>
          <a:xfrm>
            <a:off x="812800" y="2191941"/>
            <a:ext cx="2512351"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14213D"/>
                </a:solidFill>
                <a:latin typeface="Source Serif 4" pitchFamily="18" charset="0"/>
                <a:ea typeface="Source Serif 4" pitchFamily="18" charset="-122"/>
                <a:cs typeface="Source Serif 4" pitchFamily="18" charset="-120"/>
              </a:rPr>
              <a:t>20.5%</a:t>
            </a:r>
            <a:endParaRPr lang="en-US" sz="6000" dirty="0"/>
          </a:p>
        </p:txBody>
      </p:sp>
      <p:sp>
        <p:nvSpPr>
          <p:cNvPr id="6" name="Text 4"/>
          <p:cNvSpPr/>
          <p:nvPr/>
        </p:nvSpPr>
        <p:spPr>
          <a:xfrm>
            <a:off x="812800" y="3042841"/>
            <a:ext cx="22737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Q2</a:t>
            </a:r>
            <a:endParaRPr lang="en-US" sz="1200" dirty="0"/>
          </a:p>
        </p:txBody>
      </p:sp>
      <p:pic>
        <p:nvPicPr>
          <p:cNvPr id="7" name="Image 0" descr="arrow-right">    </p:cNvPr>
          <p:cNvPicPr>
            <a:picLocks noChangeAspect="1"/>
          </p:cNvPicPr>
          <p:nvPr/>
        </p:nvPicPr>
        <p:blipFill>
          <a:blip r:embed="rId1"/>
          <a:srcRect l="0" r="0" t="0" b="0"/>
          <a:stretch/>
        </p:blipFill>
        <p:spPr>
          <a:xfrm>
            <a:off x="3325151" y="2533518"/>
            <a:ext cx="762000" cy="381000"/>
          </a:xfrm>
          <a:prstGeom prst="rect">
            <a:avLst/>
          </a:prstGeom>
        </p:spPr>
      </p:pic>
      <p:sp>
        <p:nvSpPr>
          <p:cNvPr id="8" name="Text 5"/>
          <p:cNvSpPr/>
          <p:nvPr/>
        </p:nvSpPr>
        <p:spPr>
          <a:xfrm>
            <a:off x="4391951" y="2191941"/>
            <a:ext cx="2649061"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B4521B"/>
                </a:solidFill>
                <a:latin typeface="Source Serif 4" pitchFamily="18" charset="0"/>
                <a:ea typeface="Source Serif 4" pitchFamily="18" charset="-122"/>
                <a:cs typeface="Source Serif 4" pitchFamily="18" charset="-120"/>
              </a:rPr>
              <a:t>14.3%</a:t>
            </a:r>
            <a:endParaRPr lang="en-US" sz="6000" dirty="0"/>
          </a:p>
        </p:txBody>
      </p:sp>
      <p:sp>
        <p:nvSpPr>
          <p:cNvPr id="9" name="Text 6"/>
          <p:cNvSpPr/>
          <p:nvPr/>
        </p:nvSpPr>
        <p:spPr>
          <a:xfrm>
            <a:off x="4391951" y="3042841"/>
            <a:ext cx="22737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Q3</a:t>
            </a:r>
            <a:endParaRPr lang="en-US" sz="1200" dirty="0"/>
          </a:p>
        </p:txBody>
      </p:sp>
      <p:sp>
        <p:nvSpPr>
          <p:cNvPr id="10" name="Text 7"/>
          <p:cNvSpPr/>
          <p:nvPr/>
        </p:nvSpPr>
        <p:spPr>
          <a:xfrm>
            <a:off x="812800" y="3408561"/>
            <a:ext cx="62788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Payer conversion: active user-months with at least one successful transaction, divided by all active user-months.</a:t>
            </a:r>
            <a:endParaRPr lang="en-US" sz="1200" dirty="0"/>
          </a:p>
        </p:txBody>
      </p:sp>
      <p:sp>
        <p:nvSpPr>
          <p:cNvPr id="11" name="Shape 8"/>
          <p:cNvSpPr/>
          <p:nvPr/>
        </p:nvSpPr>
        <p:spPr>
          <a:xfrm>
            <a:off x="7318375" y="1776016"/>
            <a:ext cx="4057650" cy="926637"/>
          </a:xfrm>
          <a:prstGeom prst="roundRect">
            <a:avLst>
              <a:gd name="adj" fmla="val 10622"/>
            </a:avLst>
          </a:prstGeom>
          <a:solidFill>
            <a:srgbClr val="FDFCF9"/>
          </a:solidFill>
          <a:ln w="6350">
            <a:solidFill>
              <a:srgbClr val="E2DED4"/>
            </a:solidFill>
            <a:prstDash val="solid"/>
          </a:ln>
        </p:spPr>
      </p:sp>
      <p:sp>
        <p:nvSpPr>
          <p:cNvPr id="12" name="Text 9"/>
          <p:cNvSpPr/>
          <p:nvPr/>
        </p:nvSpPr>
        <p:spPr>
          <a:xfrm>
            <a:off x="7522634" y="1929474"/>
            <a:ext cx="375860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213D"/>
                </a:solidFill>
                <a:latin typeface="IBM Plex Sans" pitchFamily="34" charset="0"/>
                <a:ea typeface="IBM Plex Sans" pitchFamily="34" charset="-122"/>
                <a:cs typeface="IBM Plex Sans" pitchFamily="34" charset="-120"/>
              </a:rPr>
              <a:t>$1.56 → $1.27</a:t>
            </a:r>
            <a:endParaRPr lang="en-US" sz="2000" dirty="0"/>
          </a:p>
        </p:txBody>
      </p:sp>
      <p:sp>
        <p:nvSpPr>
          <p:cNvPr id="13" name="Text 10"/>
          <p:cNvSpPr/>
          <p:nvPr/>
        </p:nvSpPr>
        <p:spPr>
          <a:xfrm>
            <a:off x="7522634" y="2335874"/>
            <a:ext cx="37586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6"/>
                </a:solidFill>
                <a:latin typeface="IBM Plex Sans" pitchFamily="34" charset="0"/>
                <a:ea typeface="IBM Plex Sans" pitchFamily="34" charset="-122"/>
                <a:cs typeface="IBM Plex Sans" pitchFamily="34" charset="-120"/>
              </a:rPr>
              <a:t>revenue per active user-month</a:t>
            </a:r>
            <a:endParaRPr lang="en-US" sz="1200" dirty="0"/>
          </a:p>
        </p:txBody>
      </p:sp>
      <p:sp>
        <p:nvSpPr>
          <p:cNvPr id="14" name="Shape 11"/>
          <p:cNvSpPr/>
          <p:nvPr/>
        </p:nvSpPr>
        <p:spPr>
          <a:xfrm>
            <a:off x="7318375" y="2861404"/>
            <a:ext cx="4057650" cy="926637"/>
          </a:xfrm>
          <a:prstGeom prst="roundRect">
            <a:avLst>
              <a:gd name="adj" fmla="val 10622"/>
            </a:avLst>
          </a:prstGeom>
          <a:solidFill>
            <a:srgbClr val="FDFCF9"/>
          </a:solidFill>
          <a:ln w="6350">
            <a:solidFill>
              <a:srgbClr val="E2DED4"/>
            </a:solidFill>
            <a:prstDash val="solid"/>
          </a:ln>
        </p:spPr>
      </p:sp>
      <p:sp>
        <p:nvSpPr>
          <p:cNvPr id="15" name="Text 12"/>
          <p:cNvSpPr/>
          <p:nvPr/>
        </p:nvSpPr>
        <p:spPr>
          <a:xfrm>
            <a:off x="7522634" y="3014861"/>
            <a:ext cx="375860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213D"/>
                </a:solidFill>
                <a:latin typeface="IBM Plex Sans" pitchFamily="34" charset="0"/>
                <a:ea typeface="IBM Plex Sans" pitchFamily="34" charset="-122"/>
                <a:cs typeface="IBM Plex Sans" pitchFamily="34" charset="-120"/>
              </a:rPr>
              <a:t>13.8% vs 19.8%</a:t>
            </a:r>
            <a:endParaRPr lang="en-US" sz="2000" dirty="0"/>
          </a:p>
        </p:txBody>
      </p:sp>
      <p:sp>
        <p:nvSpPr>
          <p:cNvPr id="16" name="Text 13"/>
          <p:cNvSpPr/>
          <p:nvPr/>
        </p:nvSpPr>
        <p:spPr>
          <a:xfrm>
            <a:off x="7522634" y="3421261"/>
            <a:ext cx="37586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6"/>
                </a:solidFill>
                <a:latin typeface="IBM Plex Sans" pitchFamily="34" charset="0"/>
                <a:ea typeface="IBM Plex Sans" pitchFamily="34" charset="-122"/>
                <a:cs typeface="IBM Plex Sans" pitchFamily="34" charset="-120"/>
              </a:rPr>
              <a:t>growth in viewers vs users with a session</a:t>
            </a:r>
            <a:endParaRPr lang="en-US" sz="1200" dirty="0"/>
          </a:p>
        </p:txBody>
      </p:sp>
      <p:sp>
        <p:nvSpPr>
          <p:cNvPr id="17" name="Shape 14"/>
          <p:cNvSpPr/>
          <p:nvPr/>
        </p:nvSpPr>
        <p:spPr>
          <a:xfrm>
            <a:off x="7318375" y="3946790"/>
            <a:ext cx="4057650" cy="1139957"/>
          </a:xfrm>
          <a:prstGeom prst="roundRect">
            <a:avLst>
              <a:gd name="adj" fmla="val 8634"/>
            </a:avLst>
          </a:prstGeom>
          <a:solidFill>
            <a:srgbClr val="FDFCF9"/>
          </a:solidFill>
          <a:ln w="6350">
            <a:solidFill>
              <a:srgbClr val="E2DED4"/>
            </a:solidFill>
            <a:prstDash val="solid"/>
          </a:ln>
        </p:spPr>
      </p:sp>
      <p:sp>
        <p:nvSpPr>
          <p:cNvPr id="18" name="Text 15"/>
          <p:cNvSpPr/>
          <p:nvPr/>
        </p:nvSpPr>
        <p:spPr>
          <a:xfrm>
            <a:off x="7522634" y="4100249"/>
            <a:ext cx="375860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213D"/>
                </a:solidFill>
                <a:latin typeface="IBM Plex Sans" pitchFamily="34" charset="0"/>
                <a:ea typeface="IBM Plex Sans" pitchFamily="34" charset="-122"/>
                <a:cs typeface="IBM Plex Sans" pitchFamily="34" charset="-120"/>
              </a:rPr>
              <a:t>805 vs 2</a:t>
            </a:r>
            <a:endParaRPr lang="en-US" sz="2000" dirty="0"/>
          </a:p>
        </p:txBody>
      </p:sp>
      <p:sp>
        <p:nvSpPr>
          <p:cNvPr id="19" name="Text 16"/>
          <p:cNvSpPr/>
          <p:nvPr/>
        </p:nvSpPr>
        <p:spPr>
          <a:xfrm>
            <a:off x="7522634" y="4506649"/>
            <a:ext cx="375860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6"/>
                </a:solidFill>
                <a:latin typeface="IBM Plex Sans" pitchFamily="34" charset="0"/>
                <a:ea typeface="IBM Plex Sans" pitchFamily="34" charset="-122"/>
                <a:cs typeface="IBM Plex Sans" pitchFamily="34" charset="-120"/>
              </a:rPr>
              <a:t>user-months with a session but no viewing, Q3 vs Q2. Possibly non-human; no flag to confirm.</a:t>
            </a:r>
            <a:endParaRPr lang="en-US" sz="1200" dirty="0"/>
          </a:p>
        </p:txBody>
      </p:sp>
      <p:sp>
        <p:nvSpPr>
          <p:cNvPr id="20" name="Text 17"/>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PocketToons · Q3 2026 board update</a:t>
            </a:r>
            <a:endParaRPr lang="en-US" sz="1200" dirty="0"/>
          </a:p>
        </p:txBody>
      </p:sp>
      <p:sp>
        <p:nvSpPr>
          <p:cNvPr id="21"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21B"/>
                </a:solidFill>
                <a:latin typeface="IBM Plex Sans" pitchFamily="34" charset="0"/>
                <a:ea typeface="IBM Plex Sans" pitchFamily="34" charset="-122"/>
                <a:cs typeface="IBM Plex Sans" pitchFamily="34" charset="-120"/>
              </a:rPr>
              <a:t>FINDING 2 · HIGH CONFIDENCE ON THE TREND, CAUSE UNCONFIRMED</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ource Serif 4" pitchFamily="18" charset="0"/>
                <a:ea typeface="Source Serif 4" pitchFamily="18" charset="-122"/>
                <a:cs typeface="Source Serif 4" pitchFamily="18" charset="-120"/>
              </a:rPr>
              <a:t>LatAm local payments started failing</a:t>
            </a:r>
            <a:endParaRPr lang="en-US" sz="3200" dirty="0"/>
          </a:p>
        </p:txBody>
      </p:sp>
      <p:sp>
        <p:nvSpPr>
          <p:cNvPr id="4" name="Text 2"/>
          <p:cNvSpPr/>
          <p:nvPr/>
        </p:nvSpPr>
        <p:spPr>
          <a:xfrm>
            <a:off x="812800" y="1772841"/>
            <a:ext cx="549402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Source Serif 4" pitchFamily="18" charset="0"/>
                <a:ea typeface="Source Serif 4" pitchFamily="18" charset="-122"/>
                <a:cs typeface="Source Serif 4" pitchFamily="18" charset="-120"/>
              </a:rPr>
              <a:t>Failure rate of payment attempts</a:t>
            </a:r>
            <a:endParaRPr lang="en-US" sz="2000" dirty="0"/>
          </a:p>
        </p:txBody>
      </p:sp>
      <p:sp>
        <p:nvSpPr>
          <p:cNvPr id="5" name="Shape 3"/>
          <p:cNvSpPr/>
          <p:nvPr/>
        </p:nvSpPr>
        <p:spPr>
          <a:xfrm>
            <a:off x="812800" y="2209670"/>
            <a:ext cx="152400" cy="152400"/>
          </a:xfrm>
          <a:prstGeom prst="rect">
            <a:avLst/>
          </a:prstGeom>
          <a:solidFill>
            <a:srgbClr val="14213D"/>
          </a:solidFill>
          <a:ln/>
        </p:spPr>
      </p:sp>
      <p:sp>
        <p:nvSpPr>
          <p:cNvPr id="6" name="Text 4"/>
          <p:cNvSpPr/>
          <p:nvPr/>
        </p:nvSpPr>
        <p:spPr>
          <a:xfrm>
            <a:off x="1066800" y="2179241"/>
            <a:ext cx="2501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6"/>
                </a:solidFill>
                <a:latin typeface="IBM Plex Sans" pitchFamily="34" charset="0"/>
                <a:ea typeface="IBM Plex Sans" pitchFamily="34" charset="-122"/>
                <a:cs typeface="IBM Plex Sans" pitchFamily="34" charset="-120"/>
              </a:rPr>
              <a:t>Q2</a:t>
            </a:r>
            <a:endParaRPr lang="en-US" sz="1200" dirty="0"/>
          </a:p>
        </p:txBody>
      </p:sp>
      <p:sp>
        <p:nvSpPr>
          <p:cNvPr id="7" name="Shape 5"/>
          <p:cNvSpPr/>
          <p:nvPr/>
        </p:nvSpPr>
        <p:spPr>
          <a:xfrm>
            <a:off x="1570964" y="2209670"/>
            <a:ext cx="152400" cy="152400"/>
          </a:xfrm>
          <a:prstGeom prst="rect">
            <a:avLst/>
          </a:prstGeom>
          <a:solidFill>
            <a:srgbClr val="E07A3F"/>
          </a:solidFill>
          <a:ln/>
        </p:spPr>
      </p:sp>
      <p:sp>
        <p:nvSpPr>
          <p:cNvPr id="8" name="Text 6"/>
          <p:cNvSpPr/>
          <p:nvPr/>
        </p:nvSpPr>
        <p:spPr>
          <a:xfrm>
            <a:off x="1824964" y="2179241"/>
            <a:ext cx="2501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6"/>
                </a:solidFill>
                <a:latin typeface="IBM Plex Sans" pitchFamily="34" charset="0"/>
                <a:ea typeface="IBM Plex Sans" pitchFamily="34" charset="-122"/>
                <a:cs typeface="IBM Plex Sans" pitchFamily="34" charset="-120"/>
              </a:rPr>
              <a:t>Q3</a:t>
            </a:r>
            <a:endParaRPr lang="en-US" sz="1200" dirty="0"/>
          </a:p>
        </p:txBody>
      </p:sp>
      <p:sp>
        <p:nvSpPr>
          <p:cNvPr id="9" name="Shape 7"/>
          <p:cNvSpPr/>
          <p:nvPr/>
        </p:nvSpPr>
        <p:spPr>
          <a:xfrm>
            <a:off x="812800" y="4456311"/>
            <a:ext cx="1524000" cy="0"/>
          </a:xfrm>
          <a:prstGeom prst="line">
            <a:avLst/>
          </a:prstGeom>
          <a:noFill/>
          <a:ln w="12700">
            <a:solidFill>
              <a:srgbClr val="14213D"/>
            </a:solidFill>
            <a:prstDash val="solid"/>
          </a:ln>
        </p:spPr>
      </p:sp>
      <p:sp>
        <p:nvSpPr>
          <p:cNvPr id="10" name="Text 8"/>
          <p:cNvSpPr/>
          <p:nvPr/>
        </p:nvSpPr>
        <p:spPr>
          <a:xfrm>
            <a:off x="1025208" y="4020741"/>
            <a:ext cx="43878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6.3%</a:t>
            </a:r>
            <a:endParaRPr lang="en-US" sz="1200" dirty="0"/>
          </a:p>
        </p:txBody>
      </p:sp>
      <p:sp>
        <p:nvSpPr>
          <p:cNvPr id="11" name="Shape 9"/>
          <p:cNvSpPr/>
          <p:nvPr/>
        </p:nvSpPr>
        <p:spPr>
          <a:xfrm>
            <a:off x="965200" y="4284861"/>
            <a:ext cx="558800" cy="165100"/>
          </a:xfrm>
          <a:prstGeom prst="rect">
            <a:avLst/>
          </a:prstGeom>
          <a:solidFill>
            <a:srgbClr val="14213D"/>
          </a:solidFill>
          <a:ln/>
        </p:spPr>
      </p:sp>
      <p:sp>
        <p:nvSpPr>
          <p:cNvPr id="12" name="Text 10"/>
          <p:cNvSpPr/>
          <p:nvPr/>
        </p:nvSpPr>
        <p:spPr>
          <a:xfrm>
            <a:off x="1625283" y="2699941"/>
            <a:ext cx="55943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4521B"/>
                </a:solidFill>
                <a:latin typeface="IBM Plex Sans" pitchFamily="34" charset="0"/>
                <a:ea typeface="IBM Plex Sans" pitchFamily="34" charset="-122"/>
                <a:cs typeface="IBM Plex Sans" pitchFamily="34" charset="-120"/>
              </a:rPr>
              <a:t>56.4%</a:t>
            </a:r>
            <a:endParaRPr lang="en-US" sz="1200" dirty="0"/>
          </a:p>
        </p:txBody>
      </p:sp>
      <p:sp>
        <p:nvSpPr>
          <p:cNvPr id="13" name="Shape 11"/>
          <p:cNvSpPr/>
          <p:nvPr/>
        </p:nvSpPr>
        <p:spPr>
          <a:xfrm>
            <a:off x="1625600" y="2964061"/>
            <a:ext cx="558800" cy="1485900"/>
          </a:xfrm>
          <a:prstGeom prst="rect">
            <a:avLst/>
          </a:prstGeom>
          <a:solidFill>
            <a:srgbClr val="E07A3F"/>
          </a:solidFill>
          <a:ln/>
        </p:spPr>
      </p:sp>
      <p:sp>
        <p:nvSpPr>
          <p:cNvPr id="14" name="Text 12"/>
          <p:cNvSpPr/>
          <p:nvPr/>
        </p:nvSpPr>
        <p:spPr>
          <a:xfrm>
            <a:off x="1407881" y="4538861"/>
            <a:ext cx="333772"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Pix</a:t>
            </a:r>
            <a:endParaRPr lang="en-US" sz="1500" dirty="0"/>
          </a:p>
        </p:txBody>
      </p:sp>
      <p:sp>
        <p:nvSpPr>
          <p:cNvPr id="15" name="Shape 13"/>
          <p:cNvSpPr/>
          <p:nvPr/>
        </p:nvSpPr>
        <p:spPr>
          <a:xfrm>
            <a:off x="2641600" y="4456311"/>
            <a:ext cx="1524000" cy="0"/>
          </a:xfrm>
          <a:prstGeom prst="line">
            <a:avLst/>
          </a:prstGeom>
          <a:noFill/>
          <a:ln w="12700">
            <a:solidFill>
              <a:srgbClr val="14213D"/>
            </a:solidFill>
            <a:prstDash val="solid"/>
          </a:ln>
        </p:spPr>
      </p:sp>
      <p:sp>
        <p:nvSpPr>
          <p:cNvPr id="16" name="Text 14"/>
          <p:cNvSpPr/>
          <p:nvPr/>
        </p:nvSpPr>
        <p:spPr>
          <a:xfrm>
            <a:off x="2799160" y="3830241"/>
            <a:ext cx="54848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13.5%</a:t>
            </a:r>
            <a:endParaRPr lang="en-US" sz="1200" dirty="0"/>
          </a:p>
        </p:txBody>
      </p:sp>
      <p:sp>
        <p:nvSpPr>
          <p:cNvPr id="17" name="Shape 15"/>
          <p:cNvSpPr/>
          <p:nvPr/>
        </p:nvSpPr>
        <p:spPr>
          <a:xfrm>
            <a:off x="2794000" y="4094361"/>
            <a:ext cx="558800" cy="355600"/>
          </a:xfrm>
          <a:prstGeom prst="rect">
            <a:avLst/>
          </a:prstGeom>
          <a:solidFill>
            <a:srgbClr val="14213D"/>
          </a:solidFill>
          <a:ln/>
        </p:spPr>
      </p:sp>
      <p:sp>
        <p:nvSpPr>
          <p:cNvPr id="18" name="Text 16"/>
          <p:cNvSpPr/>
          <p:nvPr/>
        </p:nvSpPr>
        <p:spPr>
          <a:xfrm>
            <a:off x="3454083" y="2636441"/>
            <a:ext cx="55943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4521B"/>
                </a:solidFill>
                <a:latin typeface="IBM Plex Sans" pitchFamily="34" charset="0"/>
                <a:ea typeface="IBM Plex Sans" pitchFamily="34" charset="-122"/>
                <a:cs typeface="IBM Plex Sans" pitchFamily="34" charset="-120"/>
              </a:rPr>
              <a:t>58.9%</a:t>
            </a:r>
            <a:endParaRPr lang="en-US" sz="1200" dirty="0"/>
          </a:p>
        </p:txBody>
      </p:sp>
      <p:sp>
        <p:nvSpPr>
          <p:cNvPr id="19" name="Shape 17"/>
          <p:cNvSpPr/>
          <p:nvPr/>
        </p:nvSpPr>
        <p:spPr>
          <a:xfrm>
            <a:off x="3454400" y="2900561"/>
            <a:ext cx="558800" cy="1549400"/>
          </a:xfrm>
          <a:prstGeom prst="rect">
            <a:avLst/>
          </a:prstGeom>
          <a:solidFill>
            <a:srgbClr val="E07A3F"/>
          </a:solidFill>
          <a:ln/>
        </p:spPr>
      </p:sp>
      <p:sp>
        <p:nvSpPr>
          <p:cNvPr id="20" name="Text 18"/>
          <p:cNvSpPr/>
          <p:nvPr/>
        </p:nvSpPr>
        <p:spPr>
          <a:xfrm>
            <a:off x="3135160" y="4538861"/>
            <a:ext cx="536813"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Oxxo</a:t>
            </a:r>
            <a:endParaRPr lang="en-US" sz="1500" dirty="0"/>
          </a:p>
        </p:txBody>
      </p:sp>
      <p:sp>
        <p:nvSpPr>
          <p:cNvPr id="21" name="Shape 19"/>
          <p:cNvSpPr/>
          <p:nvPr/>
        </p:nvSpPr>
        <p:spPr>
          <a:xfrm>
            <a:off x="4470400" y="4456311"/>
            <a:ext cx="1524000" cy="0"/>
          </a:xfrm>
          <a:prstGeom prst="line">
            <a:avLst/>
          </a:prstGeom>
          <a:noFill/>
          <a:ln w="12700">
            <a:solidFill>
              <a:srgbClr val="14213D"/>
            </a:solidFill>
            <a:prstDash val="solid"/>
          </a:ln>
        </p:spPr>
      </p:sp>
      <p:sp>
        <p:nvSpPr>
          <p:cNvPr id="22" name="Text 20"/>
          <p:cNvSpPr/>
          <p:nvPr/>
        </p:nvSpPr>
        <p:spPr>
          <a:xfrm>
            <a:off x="4682808" y="3995341"/>
            <a:ext cx="43878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7.3%</a:t>
            </a:r>
            <a:endParaRPr lang="en-US" sz="1200" dirty="0"/>
          </a:p>
        </p:txBody>
      </p:sp>
      <p:sp>
        <p:nvSpPr>
          <p:cNvPr id="23" name="Shape 21"/>
          <p:cNvSpPr/>
          <p:nvPr/>
        </p:nvSpPr>
        <p:spPr>
          <a:xfrm>
            <a:off x="4622800" y="4259461"/>
            <a:ext cx="558800" cy="190500"/>
          </a:xfrm>
          <a:prstGeom prst="rect">
            <a:avLst/>
          </a:prstGeom>
          <a:solidFill>
            <a:srgbClr val="14213D"/>
          </a:solidFill>
          <a:ln/>
        </p:spPr>
      </p:sp>
      <p:sp>
        <p:nvSpPr>
          <p:cNvPr id="24" name="Text 22"/>
          <p:cNvSpPr/>
          <p:nvPr/>
        </p:nvSpPr>
        <p:spPr>
          <a:xfrm>
            <a:off x="5282883" y="2534841"/>
            <a:ext cx="55943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4521B"/>
                </a:solidFill>
                <a:latin typeface="IBM Plex Sans" pitchFamily="34" charset="0"/>
                <a:ea typeface="IBM Plex Sans" pitchFamily="34" charset="-122"/>
                <a:cs typeface="IBM Plex Sans" pitchFamily="34" charset="-120"/>
              </a:rPr>
              <a:t>62.7%</a:t>
            </a:r>
            <a:endParaRPr lang="en-US" sz="1200" dirty="0"/>
          </a:p>
        </p:txBody>
      </p:sp>
      <p:sp>
        <p:nvSpPr>
          <p:cNvPr id="25" name="Shape 23"/>
          <p:cNvSpPr/>
          <p:nvPr/>
        </p:nvSpPr>
        <p:spPr>
          <a:xfrm>
            <a:off x="5283200" y="2798961"/>
            <a:ext cx="558800" cy="1651000"/>
          </a:xfrm>
          <a:prstGeom prst="rect">
            <a:avLst/>
          </a:prstGeom>
          <a:solidFill>
            <a:srgbClr val="E07A3F"/>
          </a:solidFill>
          <a:ln/>
        </p:spPr>
      </p:sp>
      <p:sp>
        <p:nvSpPr>
          <p:cNvPr id="26" name="Text 24"/>
          <p:cNvSpPr/>
          <p:nvPr/>
        </p:nvSpPr>
        <p:spPr>
          <a:xfrm>
            <a:off x="5021501" y="4538861"/>
            <a:ext cx="421799"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PSE</a:t>
            </a:r>
            <a:endParaRPr lang="en-US" sz="1500" dirty="0"/>
          </a:p>
        </p:txBody>
      </p:sp>
      <p:sp>
        <p:nvSpPr>
          <p:cNvPr id="27" name="Text 25"/>
          <p:cNvSpPr/>
          <p:nvPr/>
        </p:nvSpPr>
        <p:spPr>
          <a:xfrm>
            <a:off x="812800" y="4907161"/>
            <a:ext cx="54940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6"/>
                </a:solidFill>
                <a:latin typeface="IBM Plex Sans" pitchFamily="34" charset="0"/>
                <a:ea typeface="IBM Plex Sans" pitchFamily="34" charset="-122"/>
                <a:cs typeface="IBM Plex Sans" pitchFamily="34" charset="-120"/>
              </a:rPr>
              <a:t>257 failed purchase attempts on these methods in Q3, against about 38 at Q2 rates. No decline codes, so the cause is unconfirmed.</a:t>
            </a:r>
            <a:endParaRPr lang="en-US" sz="1200" dirty="0"/>
          </a:p>
        </p:txBody>
      </p:sp>
      <p:sp>
        <p:nvSpPr>
          <p:cNvPr id="28" name="Text 26"/>
          <p:cNvSpPr/>
          <p:nvPr/>
        </p:nvSpPr>
        <p:spPr>
          <a:xfrm>
            <a:off x="6553200" y="1772841"/>
            <a:ext cx="497078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Source Serif 4" pitchFamily="18" charset="0"/>
                <a:ea typeface="Source Serif 4" pitchFamily="18" charset="-122"/>
                <a:cs typeface="Source Serif 4" pitchFamily="18" charset="-120"/>
              </a:rPr>
              <a:t>Pix charges look wrong since August</a:t>
            </a:r>
            <a:endParaRPr lang="en-US" sz="2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565900" y="2217341"/>
          <a:ext cx="4813300" cy="1330590"/>
        </p:xfrm>
        <a:graphic>
          <a:graphicData uri="http://schemas.openxmlformats.org/drawingml/2006/table">
            <a:tbl>
              <a:tblPr/>
              <a:tblGrid>
                <a:gridCol w="1732788"/>
                <a:gridCol w="1540256"/>
                <a:gridCol w="1540256"/>
              </a:tblGrid>
              <a:tr h="332647">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Charge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Usual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Pix, from Aug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Subscription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$9.99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B4521B"/>
                          </a:solidFill>
                          <a:latin typeface="IBM Plex Sans" pitchFamily="34" charset="0"/>
                          <a:ea typeface="IBM Plex Sans" pitchFamily="34" charset="-122"/>
                          <a:cs typeface="IBM Plex Sans" pitchFamily="34" charset="-120"/>
                        </a:rPr>
                        <a:t>$49.90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Pay-per-view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$1.99 / $2.99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B4521B"/>
                          </a:solidFill>
                          <a:latin typeface="IBM Plex Sans" pitchFamily="34" charset="0"/>
                          <a:ea typeface="IBM Plex Sans" pitchFamily="34" charset="-122"/>
                          <a:cs typeface="IBM Plex Sans" pitchFamily="34" charset="-120"/>
                        </a:rPr>
                        <a:t>$9.90 / $14.90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Refund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−$9.99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B4521B"/>
                          </a:solidFill>
                          <a:latin typeface="IBM Plex Sans" pitchFamily="34" charset="0"/>
                          <a:ea typeface="IBM Plex Sans" pitchFamily="34" charset="-122"/>
                          <a:cs typeface="IBM Plex Sans" pitchFamily="34" charset="-120"/>
                        </a:rPr>
                        <a:t>−$49.90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30" name="Text 27"/>
          <p:cNvSpPr/>
          <p:nvPr/>
        </p:nvSpPr>
        <p:spPr>
          <a:xfrm>
            <a:off x="6553200" y="3674932"/>
            <a:ext cx="497078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49 successful and 136 failed records. Re-pricing them cuts Q3 revenue from $20,302 to $19,085 (−$1,217).</a:t>
            </a:r>
            <a:endParaRPr lang="en-US" sz="1500" dirty="0"/>
          </a:p>
        </p:txBody>
      </p:sp>
      <p:sp>
        <p:nvSpPr>
          <p:cNvPr id="31" name="Text 28"/>
          <p:cNvSpPr/>
          <p:nvPr/>
        </p:nvSpPr>
        <p:spPr>
          <a:xfrm>
            <a:off x="6553200" y="4335332"/>
            <a:ext cx="49707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Could be an intended local price: the data has no product or currency field to check.</a:t>
            </a:r>
            <a:endParaRPr lang="en-US" sz="1200" dirty="0"/>
          </a:p>
        </p:txBody>
      </p:sp>
      <p:sp>
        <p:nvSpPr>
          <p:cNvPr id="32" name="Text 29"/>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PocketToons · Q3 2026 board update</a:t>
            </a:r>
            <a:endParaRPr lang="en-US" sz="1200" dirty="0"/>
          </a:p>
        </p:txBody>
      </p:sp>
      <p:sp>
        <p:nvSpPr>
          <p:cNvPr id="33" name="Text 3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21B"/>
                </a:solidFill>
                <a:latin typeface="IBM Plex Sans" pitchFamily="34" charset="0"/>
                <a:ea typeface="IBM Plex Sans" pitchFamily="34" charset="-122"/>
                <a:cs typeface="IBM Plex Sans" pitchFamily="34" charset="-120"/>
              </a:rPr>
              <a:t>FINDING 3 · MEDIUM CONFIDENCE</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ource Serif 4" pitchFamily="18" charset="0"/>
                <a:ea typeface="Source Serif 4" pitchFamily="18" charset="-122"/>
                <a:cs typeface="Source Serif 4" pitchFamily="18" charset="-120"/>
              </a:rPr>
              <a:t>Growth came from sources that rarely pay</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5541"/>
          <a:ext cx="10553700" cy="2063750"/>
        </p:xfrm>
        <a:graphic>
          <a:graphicData uri="http://schemas.openxmlformats.org/drawingml/2006/table">
            <a:tbl>
              <a:tblPr/>
              <a:tblGrid>
                <a:gridCol w="4221480"/>
                <a:gridCol w="2532888"/>
                <a:gridCol w="3799332"/>
              </a:tblGrid>
              <a:tr h="412750">
                <a:tc>
                  <a:txBody>
                    <a:bodyPr/>
                    <a:lstStyle/>
                    <a:p>
                      <a:pPr indent="0" marL="0">
                        <a:lnSpc>
                          <a:spcPts val="2100"/>
                        </a:lnSpc>
                        <a:buNone/>
                      </a:pPr>
                      <a:r>
                        <a:rPr lang="en-US" sz="1500" b="1" dirty="0">
                          <a:solidFill>
                            <a:srgbClr val="F6F4EF"/>
                          </a:solidFill>
                          <a:latin typeface="IBM Plex Sans" pitchFamily="34" charset="0"/>
                          <a:ea typeface="IBM Plex Sans" pitchFamily="34" charset="-122"/>
                          <a:cs typeface="IBM Plex Sans" pitchFamily="34" charset="-120"/>
                        </a:rPr>
                        <a:t>Source or market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2100"/>
                        </a:lnSpc>
                        <a:buNone/>
                      </a:pPr>
                      <a:r>
                        <a:rPr lang="en-US" sz="1500" b="1" dirty="0">
                          <a:solidFill>
                            <a:srgbClr val="F6F4EF"/>
                          </a:solidFill>
                          <a:latin typeface="IBM Plex Sans" pitchFamily="34" charset="0"/>
                          <a:ea typeface="IBM Plex Sans" pitchFamily="34" charset="-122"/>
                          <a:cs typeface="IBM Plex Sans" pitchFamily="34" charset="-120"/>
                        </a:rPr>
                        <a:t>User-months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2100"/>
                        </a:lnSpc>
                        <a:buNone/>
                      </a:pPr>
                      <a:r>
                        <a:rPr lang="en-US" sz="1500" b="1" dirty="0">
                          <a:solidFill>
                            <a:srgbClr val="F6F4EF"/>
                          </a:solidFill>
                          <a:latin typeface="IBM Plex Sans" pitchFamily="34" charset="0"/>
                          <a:ea typeface="IBM Plex Sans" pitchFamily="34" charset="-122"/>
                          <a:cs typeface="IBM Plex Sans" pitchFamily="34" charset="-120"/>
                        </a:rPr>
                        <a:t>What they paid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Affiliate network (new in Q3)</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+1,486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2 payer-months, $19.98</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TikTok ads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+871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Payer-months 38 → 29</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Indonesia, Philippines, Vietnam</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+2,220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Revenue +$66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United States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−218</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Revenue −$564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5" name="Shape 2"/>
          <p:cNvSpPr/>
          <p:nvPr/>
        </p:nvSpPr>
        <p:spPr>
          <a:xfrm>
            <a:off x="815975" y="4055666"/>
            <a:ext cx="3380317" cy="1139957"/>
          </a:xfrm>
          <a:prstGeom prst="roundRect">
            <a:avLst>
              <a:gd name="adj" fmla="val 8634"/>
            </a:avLst>
          </a:prstGeom>
          <a:solidFill>
            <a:srgbClr val="FDFCF9"/>
          </a:solidFill>
          <a:ln w="6350">
            <a:solidFill>
              <a:srgbClr val="E2DED4"/>
            </a:solidFill>
            <a:prstDash val="solid"/>
          </a:ln>
        </p:spPr>
      </p:sp>
      <p:sp>
        <p:nvSpPr>
          <p:cNvPr id="6" name="Text 3"/>
          <p:cNvSpPr/>
          <p:nvPr/>
        </p:nvSpPr>
        <p:spPr>
          <a:xfrm>
            <a:off x="1020233" y="4209126"/>
            <a:ext cx="306095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213D"/>
                </a:solidFill>
                <a:latin typeface="IBM Plex Sans" pitchFamily="34" charset="0"/>
                <a:ea typeface="IBM Plex Sans" pitchFamily="34" charset="-122"/>
                <a:cs typeface="IBM Plex Sans" pitchFamily="34" charset="-120"/>
              </a:rPr>
              <a:t>$5,008 → $883</a:t>
            </a:r>
            <a:endParaRPr lang="en-US" sz="2000" dirty="0"/>
          </a:p>
        </p:txBody>
      </p:sp>
      <p:sp>
        <p:nvSpPr>
          <p:cNvPr id="7" name="Text 4"/>
          <p:cNvSpPr/>
          <p:nvPr/>
        </p:nvSpPr>
        <p:spPr>
          <a:xfrm>
            <a:off x="1020233" y="4615526"/>
            <a:ext cx="30609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6"/>
                </a:solidFill>
                <a:latin typeface="IBM Plex Sans" pitchFamily="34" charset="0"/>
                <a:ea typeface="IBM Plex Sans" pitchFamily="34" charset="-122"/>
                <a:cs typeface="IBM Plex Sans" pitchFamily="34" charset="-120"/>
              </a:rPr>
              <a:t>Google Search spend, Q2 to Q3</a:t>
            </a:r>
            <a:endParaRPr lang="en-US" sz="1200" dirty="0"/>
          </a:p>
        </p:txBody>
      </p:sp>
      <p:sp>
        <p:nvSpPr>
          <p:cNvPr id="8" name="Shape 5"/>
          <p:cNvSpPr/>
          <p:nvPr/>
        </p:nvSpPr>
        <p:spPr>
          <a:xfrm>
            <a:off x="4405842" y="4055666"/>
            <a:ext cx="3380317" cy="1139957"/>
          </a:xfrm>
          <a:prstGeom prst="roundRect">
            <a:avLst>
              <a:gd name="adj" fmla="val 8634"/>
            </a:avLst>
          </a:prstGeom>
          <a:solidFill>
            <a:srgbClr val="FDFCF9"/>
          </a:solidFill>
          <a:ln w="6350">
            <a:solidFill>
              <a:srgbClr val="E2DED4"/>
            </a:solidFill>
            <a:prstDash val="solid"/>
          </a:ln>
        </p:spPr>
      </p:sp>
      <p:sp>
        <p:nvSpPr>
          <p:cNvPr id="9" name="Text 6"/>
          <p:cNvSpPr/>
          <p:nvPr/>
        </p:nvSpPr>
        <p:spPr>
          <a:xfrm>
            <a:off x="4610100" y="4209126"/>
            <a:ext cx="306095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213D"/>
                </a:solidFill>
                <a:latin typeface="IBM Plex Sans" pitchFamily="34" charset="0"/>
                <a:ea typeface="IBM Plex Sans" pitchFamily="34" charset="-122"/>
                <a:cs typeface="IBM Plex Sans" pitchFamily="34" charset="-120"/>
              </a:rPr>
              <a:t>$1,127 → $2,707</a:t>
            </a:r>
            <a:endParaRPr lang="en-US" sz="2000" dirty="0"/>
          </a:p>
        </p:txBody>
      </p:sp>
      <p:sp>
        <p:nvSpPr>
          <p:cNvPr id="10" name="Text 7"/>
          <p:cNvSpPr/>
          <p:nvPr/>
        </p:nvSpPr>
        <p:spPr>
          <a:xfrm>
            <a:off x="4610100" y="4615526"/>
            <a:ext cx="30609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6"/>
                </a:solidFill>
                <a:latin typeface="IBM Plex Sans" pitchFamily="34" charset="0"/>
                <a:ea typeface="IBM Plex Sans" pitchFamily="34" charset="-122"/>
                <a:cs typeface="IBM Plex Sans" pitchFamily="34" charset="-120"/>
              </a:rPr>
              <a:t>TikTok spend, Q2 to Q3</a:t>
            </a:r>
            <a:endParaRPr lang="en-US" sz="1200" dirty="0"/>
          </a:p>
        </p:txBody>
      </p:sp>
      <p:sp>
        <p:nvSpPr>
          <p:cNvPr id="11" name="Shape 8"/>
          <p:cNvSpPr/>
          <p:nvPr/>
        </p:nvSpPr>
        <p:spPr>
          <a:xfrm>
            <a:off x="7995709" y="4055666"/>
            <a:ext cx="3380317" cy="1139957"/>
          </a:xfrm>
          <a:prstGeom prst="roundRect">
            <a:avLst>
              <a:gd name="adj" fmla="val 8634"/>
            </a:avLst>
          </a:prstGeom>
          <a:solidFill>
            <a:srgbClr val="FDFCF9"/>
          </a:solidFill>
          <a:ln w="6350">
            <a:solidFill>
              <a:srgbClr val="E2DED4"/>
            </a:solidFill>
            <a:prstDash val="solid"/>
          </a:ln>
        </p:spPr>
      </p:sp>
      <p:sp>
        <p:nvSpPr>
          <p:cNvPr id="12" name="Text 9"/>
          <p:cNvSpPr/>
          <p:nvPr/>
        </p:nvSpPr>
        <p:spPr>
          <a:xfrm>
            <a:off x="8199967" y="4209126"/>
            <a:ext cx="306095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213D"/>
                </a:solidFill>
                <a:latin typeface="IBM Plex Sans" pitchFamily="34" charset="0"/>
                <a:ea typeface="IBM Plex Sans" pitchFamily="34" charset="-122"/>
                <a:cs typeface="IBM Plex Sans" pitchFamily="34" charset="-120"/>
              </a:rPr>
              <a:t>~89%</a:t>
            </a:r>
            <a:endParaRPr lang="en-US" sz="2000" dirty="0"/>
          </a:p>
        </p:txBody>
      </p:sp>
      <p:sp>
        <p:nvSpPr>
          <p:cNvPr id="13" name="Text 10"/>
          <p:cNvSpPr/>
          <p:nvPr/>
        </p:nvSpPr>
        <p:spPr>
          <a:xfrm>
            <a:off x="8199967" y="4615526"/>
            <a:ext cx="30609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6"/>
                </a:solidFill>
                <a:latin typeface="IBM Plex Sans" pitchFamily="34" charset="0"/>
                <a:ea typeface="IBM Plex Sans" pitchFamily="34" charset="-122"/>
                <a:cs typeface="IBM Plex Sans" pitchFamily="34" charset="-120"/>
              </a:rPr>
              <a:t>of the rise in active user-months came from affiliate and TikTok</a:t>
            </a:r>
            <a:endParaRPr lang="en-US" sz="1200" dirty="0"/>
          </a:p>
        </p:txBody>
      </p:sp>
      <p:sp>
        <p:nvSpPr>
          <p:cNvPr id="14" name="Text 11"/>
          <p:cNvSpPr/>
          <p:nvPr/>
        </p:nvSpPr>
        <p:spPr>
          <a:xfrm>
            <a:off x="812800" y="540199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User-months: change from Q2 to Q3. United States includes the legacy “USA” label. Source and market rows overlap, so don’t add them. A pattern, not proof that any channel caused the fall in conversion.</a:t>
            </a:r>
            <a:endParaRPr lang="en-US" sz="1200" dirty="0"/>
          </a:p>
        </p:txBody>
      </p:sp>
      <p:sp>
        <p:nvSpPr>
          <p:cNvPr id="15" name="Text 12"/>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PocketToons · Q3 2026 board update</a:t>
            </a:r>
            <a:endParaRPr lang="en-US" sz="1200" dirty="0"/>
          </a:p>
        </p:txBody>
      </p:sp>
      <p:sp>
        <p:nvSpPr>
          <p:cNvPr id="16"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21B"/>
                </a:solidFill>
                <a:latin typeface="IBM Plex Sans" pitchFamily="34" charset="0"/>
                <a:ea typeface="IBM Plex Sans" pitchFamily="34" charset="-122"/>
                <a:cs typeface="IBM Plex Sans" pitchFamily="34" charset="-120"/>
              </a:rPr>
              <a:t>FINDING 4 · MEDIUM CONFIDENCE, SMALLEST EFFECT</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ource Serif 4" pitchFamily="18" charset="0"/>
                <a:ea typeface="Source Serif 4" pitchFamily="18" charset="-122"/>
                <a:cs typeface="Source Serif 4" pitchFamily="18" charset="-120"/>
              </a:rPr>
              <a:t>Fewer premium releases, less paid viewing</a:t>
            </a:r>
            <a:endParaRPr lang="en-US" sz="3200" dirty="0"/>
          </a:p>
        </p:txBody>
      </p:sp>
      <p:sp>
        <p:nvSpPr>
          <p:cNvPr id="4" name="Shape 2"/>
          <p:cNvSpPr/>
          <p:nvPr/>
        </p:nvSpPr>
        <p:spPr>
          <a:xfrm>
            <a:off x="815975" y="1776016"/>
            <a:ext cx="3380317" cy="1622623"/>
          </a:xfrm>
          <a:prstGeom prst="roundRect">
            <a:avLst>
              <a:gd name="adj" fmla="val 6066"/>
            </a:avLst>
          </a:prstGeom>
          <a:solidFill>
            <a:srgbClr val="FDFCF9"/>
          </a:solidFill>
          <a:ln w="6350">
            <a:solidFill>
              <a:srgbClr val="E2DED4"/>
            </a:solidFill>
            <a:prstDash val="solid"/>
          </a:ln>
        </p:spPr>
      </p:sp>
      <p:sp>
        <p:nvSpPr>
          <p:cNvPr id="5" name="Text 3"/>
          <p:cNvSpPr/>
          <p:nvPr/>
        </p:nvSpPr>
        <p:spPr>
          <a:xfrm>
            <a:off x="1071033" y="2031076"/>
            <a:ext cx="2956306"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Source Serif 4" pitchFamily="18" charset="0"/>
                <a:ea typeface="Source Serif 4" pitchFamily="18" charset="-122"/>
                <a:cs typeface="Source Serif 4" pitchFamily="18" charset="-120"/>
              </a:rPr>
              <a:t>1 vs 7</a:t>
            </a:r>
            <a:endParaRPr lang="en-US" sz="3600" dirty="0"/>
          </a:p>
        </p:txBody>
      </p:sp>
      <p:sp>
        <p:nvSpPr>
          <p:cNvPr id="6" name="Text 4"/>
          <p:cNvSpPr/>
          <p:nvPr/>
        </p:nvSpPr>
        <p:spPr>
          <a:xfrm>
            <a:off x="1071033" y="2610182"/>
            <a:ext cx="295630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656"/>
                </a:solidFill>
                <a:latin typeface="IBM Plex Sans" pitchFamily="34" charset="0"/>
                <a:ea typeface="IBM Plex Sans" pitchFamily="34" charset="-122"/>
                <a:cs typeface="IBM Plex Sans" pitchFamily="34" charset="-120"/>
              </a:rPr>
              <a:t>premium titles released, Q3 vs Q2 (25 vs 173 episodes)</a:t>
            </a:r>
            <a:endParaRPr lang="en-US" sz="1500" dirty="0"/>
          </a:p>
        </p:txBody>
      </p:sp>
      <p:sp>
        <p:nvSpPr>
          <p:cNvPr id="7" name="Shape 5"/>
          <p:cNvSpPr/>
          <p:nvPr/>
        </p:nvSpPr>
        <p:spPr>
          <a:xfrm>
            <a:off x="4405842" y="1776016"/>
            <a:ext cx="3380317" cy="1622623"/>
          </a:xfrm>
          <a:prstGeom prst="roundRect">
            <a:avLst>
              <a:gd name="adj" fmla="val 6066"/>
            </a:avLst>
          </a:prstGeom>
          <a:solidFill>
            <a:srgbClr val="FDFCF9"/>
          </a:solidFill>
          <a:ln w="6350">
            <a:solidFill>
              <a:srgbClr val="E2DED4"/>
            </a:solidFill>
            <a:prstDash val="solid"/>
          </a:ln>
        </p:spPr>
      </p:sp>
      <p:sp>
        <p:nvSpPr>
          <p:cNvPr id="8" name="Text 6"/>
          <p:cNvSpPr/>
          <p:nvPr/>
        </p:nvSpPr>
        <p:spPr>
          <a:xfrm>
            <a:off x="4660900" y="2031076"/>
            <a:ext cx="2956306"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B4521B"/>
                </a:solidFill>
                <a:latin typeface="Source Serif 4" pitchFamily="18" charset="0"/>
                <a:ea typeface="Source Serif 4" pitchFamily="18" charset="-122"/>
                <a:cs typeface="Source Serif 4" pitchFamily="18" charset="-120"/>
              </a:rPr>
              <a:t>−17%</a:t>
            </a:r>
            <a:endParaRPr lang="en-US" sz="3600" dirty="0"/>
          </a:p>
        </p:txBody>
      </p:sp>
      <p:sp>
        <p:nvSpPr>
          <p:cNvPr id="9" name="Text 7"/>
          <p:cNvSpPr/>
          <p:nvPr/>
        </p:nvSpPr>
        <p:spPr>
          <a:xfrm>
            <a:off x="4660900" y="2610182"/>
            <a:ext cx="295630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656"/>
                </a:solidFill>
                <a:latin typeface="IBM Plex Sans" pitchFamily="34" charset="0"/>
                <a:ea typeface="IBM Plex Sans" pitchFamily="34" charset="-122"/>
                <a:cs typeface="IBM Plex Sans" pitchFamily="34" charset="-120"/>
              </a:rPr>
              <a:t>paid views of premium titles (30,826 → 25,569)</a:t>
            </a:r>
            <a:endParaRPr lang="en-US" sz="1500" dirty="0"/>
          </a:p>
        </p:txBody>
      </p:sp>
      <p:sp>
        <p:nvSpPr>
          <p:cNvPr id="10" name="Shape 8"/>
          <p:cNvSpPr/>
          <p:nvPr/>
        </p:nvSpPr>
        <p:spPr>
          <a:xfrm>
            <a:off x="7995709" y="1776016"/>
            <a:ext cx="3380317" cy="1622623"/>
          </a:xfrm>
          <a:prstGeom prst="roundRect">
            <a:avLst>
              <a:gd name="adj" fmla="val 6066"/>
            </a:avLst>
          </a:prstGeom>
          <a:solidFill>
            <a:srgbClr val="FDFCF9"/>
          </a:solidFill>
          <a:ln w="6350">
            <a:solidFill>
              <a:srgbClr val="E2DED4"/>
            </a:solidFill>
            <a:prstDash val="solid"/>
          </a:ln>
        </p:spPr>
      </p:sp>
      <p:sp>
        <p:nvSpPr>
          <p:cNvPr id="11" name="Text 9"/>
          <p:cNvSpPr/>
          <p:nvPr/>
        </p:nvSpPr>
        <p:spPr>
          <a:xfrm>
            <a:off x="8250767" y="2031076"/>
            <a:ext cx="2956306"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B4521B"/>
                </a:solidFill>
                <a:latin typeface="Source Serif 4" pitchFamily="18" charset="0"/>
                <a:ea typeface="Source Serif 4" pitchFamily="18" charset="-122"/>
                <a:cs typeface="Source Serif 4" pitchFamily="18" charset="-120"/>
              </a:rPr>
              <a:t>−41.6%</a:t>
            </a:r>
            <a:endParaRPr lang="en-US" sz="3600" dirty="0"/>
          </a:p>
        </p:txBody>
      </p:sp>
      <p:sp>
        <p:nvSpPr>
          <p:cNvPr id="12" name="Text 10"/>
          <p:cNvSpPr/>
          <p:nvPr/>
        </p:nvSpPr>
        <p:spPr>
          <a:xfrm>
            <a:off x="8250767" y="2610182"/>
            <a:ext cx="295630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656"/>
                </a:solidFill>
                <a:latin typeface="IBM Plex Sans" pitchFamily="34" charset="0"/>
                <a:ea typeface="IBM Plex Sans" pitchFamily="34" charset="-122"/>
                <a:cs typeface="IBM Plex Sans" pitchFamily="34" charset="-120"/>
              </a:rPr>
              <a:t>pay-per-view views; PPV sales down $721</a:t>
            </a:r>
            <a:endParaRPr lang="en-US" sz="1500" dirty="0"/>
          </a:p>
        </p:txBody>
      </p:sp>
      <p:sp>
        <p:nvSpPr>
          <p:cNvPr id="13" name="Text 11"/>
          <p:cNvSpPr/>
          <p:nvPr/>
        </p:nvSpPr>
        <p:spPr>
          <a:xfrm>
            <a:off x="812800" y="3605014"/>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Over the same period, free-content views rose from 156,554 to 200,911.</a:t>
            </a:r>
            <a:endParaRPr lang="en-US" sz="1500" dirty="0"/>
          </a:p>
        </p:txBody>
      </p:sp>
      <p:sp>
        <p:nvSpPr>
          <p:cNvPr id="14" name="Text 12"/>
          <p:cNvSpPr/>
          <p:nvPr/>
        </p:nvSpPr>
        <p:spPr>
          <a:xfrm>
            <a:off x="812800" y="407491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The timing fits staler premium content weakening paid use, but the data doesn’t show causation. Test before acting on it.</a:t>
            </a:r>
            <a:endParaRPr lang="en-US" sz="1200" dirty="0"/>
          </a:p>
        </p:txBody>
      </p:sp>
      <p:sp>
        <p:nvSpPr>
          <p:cNvPr id="15" name="Text 13"/>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PocketToons · Q3 2026 board update</a:t>
            </a:r>
            <a:endParaRPr lang="en-US" sz="1200" dirty="0"/>
          </a:p>
        </p:txBody>
      </p:sp>
      <p:sp>
        <p:nvSpPr>
          <p:cNvPr id="16"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21B"/>
                </a:solidFill>
                <a:latin typeface="IBM Plex Sans" pitchFamily="34" charset="0"/>
                <a:ea typeface="IBM Plex Sans" pitchFamily="34" charset="-122"/>
                <a:cs typeface="IBM Plex Sans" pitchFamily="34" charset="-120"/>
              </a:rPr>
              <a:t>RECOMMENDATIONS</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ource Serif 4" pitchFamily="18" charset="0"/>
                <a:ea typeface="Source Serif 4" pitchFamily="18" charset="-122"/>
                <a:cs typeface="Source Serif 4" pitchFamily="18" charset="-120"/>
              </a:rPr>
              <a:t>Four actions, most urgent first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5541"/>
          <a:ext cx="10553700" cy="2516518"/>
        </p:xfrm>
        <a:graphic>
          <a:graphicData uri="http://schemas.openxmlformats.org/drawingml/2006/table">
            <a:tbl>
              <a:tblPr/>
              <a:tblGrid>
                <a:gridCol w="633222"/>
                <a:gridCol w="2955036"/>
                <a:gridCol w="4432554"/>
                <a:gridCol w="2532888"/>
              </a:tblGrid>
              <a:tr h="332647">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Action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What to do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Size (agent’s scenario)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545968">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Fix billing on LatAm local methods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Audit Pix pricing, refund mischarges, get decline codes, track success by method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~$1.9K a quarter if failures return to Q2 rates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5968">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Scale acquisition only where users pay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Hold affiliate and TikTok expansion; test restoring Search; judge channels on cohort payback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~$7.4K a quarter if conversion returns to 20.5%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5968">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Test premium release cadence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Staged or title-level release tests; measure paid views, PPV and subscription conversion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PPV gap: $721 a quarter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5968">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Report viewer MAU and the paying funnel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Session and viewer MAU side by side; session → view → payment funnel; failures by method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Growth: 19.8% sessions vs 13.8% viewers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5" name="Text 2"/>
          <p:cNvSpPr/>
          <p:nvPr/>
        </p:nvSpPr>
        <p:spPr>
          <a:xfrm>
            <a:off x="812800" y="4505263"/>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Sizes are scenarios, not forecasts. Actions 1 and 2 overlap, so don’t add their sizes.</a:t>
            </a:r>
            <a:endParaRPr lang="en-US" sz="1200" dirty="0"/>
          </a:p>
        </p:txBody>
      </p:sp>
      <p:sp>
        <p:nvSpPr>
          <p:cNvPr id="6" name="Text 3"/>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PocketToons · Q3 2026 board update</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21B"/>
                </a:solidFill>
                <a:latin typeface="IBM Plex Sans" pitchFamily="34" charset="0"/>
                <a:ea typeface="IBM Plex Sans" pitchFamily="34" charset="-122"/>
                <a:cs typeface="IBM Plex Sans" pitchFamily="34" charset="-120"/>
              </a:rPr>
              <a:t>CONFIDENCE AND LIMITS</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ource Serif 4" pitchFamily="18" charset="0"/>
                <a:ea typeface="Source Serif 4" pitchFamily="18" charset="-122"/>
                <a:cs typeface="Source Serif 4" pitchFamily="18" charset="-120"/>
              </a:rPr>
              <a:t>What this analysis could not establish</a:t>
            </a:r>
            <a:endParaRPr lang="en-US" sz="3200" dirty="0"/>
          </a:p>
        </p:txBody>
      </p:sp>
      <p:sp>
        <p:nvSpPr>
          <p:cNvPr id="4" name="Text 2"/>
          <p:cNvSpPr/>
          <p:nvPr/>
        </p:nvSpPr>
        <p:spPr>
          <a:xfrm>
            <a:off x="812800" y="1772841"/>
            <a:ext cx="457835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Source Serif 4" pitchFamily="18" charset="0"/>
                <a:ea typeface="Source Serif 4" pitchFamily="18" charset="-122"/>
                <a:cs typeface="Source Serif 4" pitchFamily="18" charset="-120"/>
              </a:rPr>
              <a:t>How sure we are</a:t>
            </a:r>
            <a:endParaRPr lang="en-US" sz="2000" dirty="0"/>
          </a:p>
        </p:txBody>
      </p:sp>
      <p:sp>
        <p:nvSpPr>
          <p:cNvPr id="5" name="Shape 3"/>
          <p:cNvSpPr/>
          <p:nvPr/>
        </p:nvSpPr>
        <p:spPr>
          <a:xfrm>
            <a:off x="815975" y="2233216"/>
            <a:ext cx="4438650" cy="1548937"/>
          </a:xfrm>
          <a:prstGeom prst="roundRect">
            <a:avLst>
              <a:gd name="adj" fmla="val 6354"/>
            </a:avLst>
          </a:prstGeom>
          <a:solidFill>
            <a:srgbClr val="FDFCF9"/>
          </a:solidFill>
          <a:ln w="6350">
            <a:solidFill>
              <a:srgbClr val="E2DED4"/>
            </a:solidFill>
            <a:prstDash val="solid"/>
          </a:ln>
        </p:spPr>
      </p:sp>
      <p:sp>
        <p:nvSpPr>
          <p:cNvPr id="6" name="Text 4"/>
          <p:cNvSpPr/>
          <p:nvPr/>
        </p:nvSpPr>
        <p:spPr>
          <a:xfrm>
            <a:off x="1020233" y="2437476"/>
            <a:ext cx="527381" cy="264120"/>
          </a:xfrm>
          <a:custGeom>
            <a:avLst/>
            <a:gdLst/>
            <a:ahLst/>
            <a:cxnLst/>
            <a:rect l="l" t="t" r="r" b="b"/>
            <a:pathLst>
              <a:path w="527381" h="264120">
                <a:moveTo>
                  <a:pt x="132060" y="0"/>
                </a:moveTo>
                <a:lnTo>
                  <a:pt x="395321" y="0"/>
                </a:lnTo>
                <a:arcTo hR="132060" wR="132060" stAng="16200000" swAng="5400000"/>
                <a:lnTo>
                  <a:pt x="527381" y="132060"/>
                </a:lnTo>
                <a:arcTo hR="132060" wR="132060" stAng="0" swAng="5400000"/>
                <a:lnTo>
                  <a:pt x="132060" y="264120"/>
                </a:lnTo>
                <a:arcTo hR="132060" wR="132060" stAng="5400000" swAng="5400000"/>
                <a:lnTo>
                  <a:pt x="0" y="132060"/>
                </a:lnTo>
                <a:arcTo hR="132060" wR="132060" stAng="10800000" swAng="5400000"/>
                <a:close/>
              </a:path>
            </a:pathLst>
          </a:custGeom>
          <a:solidFill>
            <a:srgbClr val="14213D"/>
          </a:solidFill>
          <a:ln/>
        </p:spPr>
        <p:txBody>
          <a:bodyPr wrap="none" lIns="0" tIns="0" rIns="0" bIns="0" rtlCol="0" anchor="ctr">
            <a:normAutofit/>
          </a:bodyPr>
          <a:lstStyle/>
          <a:p>
            <a:pPr algn="ct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High</a:t>
            </a:r>
            <a:endParaRPr lang="en-US" sz="1200" dirty="0"/>
          </a:p>
        </p:txBody>
      </p:sp>
      <p:sp>
        <p:nvSpPr>
          <p:cNvPr id="7" name="Text 5"/>
          <p:cNvSpPr/>
          <p:nvPr/>
        </p:nvSpPr>
        <p:spPr>
          <a:xfrm>
            <a:off x="1020233" y="2777796"/>
            <a:ext cx="4151037"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656"/>
                </a:solidFill>
                <a:latin typeface="IBM Plex Sans" pitchFamily="34" charset="0"/>
                <a:ea typeface="IBM Plex Sans" pitchFamily="34" charset="-122"/>
                <a:cs typeface="IBM Plex Sans" pitchFamily="34" charset="-120"/>
              </a:rPr>
              <a:t>MAU, revenue, payer conversion and payment-failure trends, measured directly from recorded events.</a:t>
            </a:r>
            <a:endParaRPr lang="en-US" sz="1500" dirty="0"/>
          </a:p>
        </p:txBody>
      </p:sp>
      <p:sp>
        <p:nvSpPr>
          <p:cNvPr id="8" name="Shape 6"/>
          <p:cNvSpPr/>
          <p:nvPr/>
        </p:nvSpPr>
        <p:spPr>
          <a:xfrm>
            <a:off x="815975" y="3940907"/>
            <a:ext cx="4438650" cy="1548937"/>
          </a:xfrm>
          <a:prstGeom prst="roundRect">
            <a:avLst>
              <a:gd name="adj" fmla="val 6354"/>
            </a:avLst>
          </a:prstGeom>
          <a:solidFill>
            <a:srgbClr val="FDFCF9"/>
          </a:solidFill>
          <a:ln w="6350">
            <a:solidFill>
              <a:srgbClr val="E2DED4"/>
            </a:solidFill>
            <a:prstDash val="solid"/>
          </a:ln>
        </p:spPr>
      </p:sp>
      <p:sp>
        <p:nvSpPr>
          <p:cNvPr id="9" name="Text 7"/>
          <p:cNvSpPr/>
          <p:nvPr/>
        </p:nvSpPr>
        <p:spPr>
          <a:xfrm>
            <a:off x="1020233" y="4145161"/>
            <a:ext cx="771062" cy="264120"/>
          </a:xfrm>
          <a:custGeom>
            <a:avLst/>
            <a:gdLst/>
            <a:ahLst/>
            <a:cxnLst/>
            <a:rect l="l" t="t" r="r" b="b"/>
            <a:pathLst>
              <a:path w="771062" h="264120">
                <a:moveTo>
                  <a:pt x="132060" y="0"/>
                </a:moveTo>
                <a:lnTo>
                  <a:pt x="639002" y="0"/>
                </a:lnTo>
                <a:arcTo hR="132060" wR="132060" stAng="16200000" swAng="5400000"/>
                <a:lnTo>
                  <a:pt x="771062" y="132060"/>
                </a:lnTo>
                <a:arcTo hR="132060" wR="132060" stAng="0" swAng="5400000"/>
                <a:lnTo>
                  <a:pt x="132060" y="264120"/>
                </a:lnTo>
                <a:arcTo hR="132060" wR="132060" stAng="5400000" swAng="5400000"/>
                <a:lnTo>
                  <a:pt x="0" y="132060"/>
                </a:lnTo>
                <a:arcTo hR="132060" wR="132060" stAng="10800000" swAng="5400000"/>
                <a:close/>
              </a:path>
            </a:pathLst>
          </a:custGeom>
          <a:solidFill>
            <a:srgbClr val="E07A3F"/>
          </a:solidFill>
          <a:ln/>
        </p:spPr>
        <p:txBody>
          <a:bodyPr wrap="none" lIns="0" tIns="0" rIns="0" bIns="0" rtlCol="0" anchor="ctr">
            <a:normAutofit/>
          </a:bodyPr>
          <a:lstStyle/>
          <a:p>
            <a:pPr algn="ct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Medium</a:t>
            </a:r>
            <a:endParaRPr lang="en-US" sz="1200" dirty="0"/>
          </a:p>
        </p:txBody>
      </p:sp>
      <p:sp>
        <p:nvSpPr>
          <p:cNvPr id="10" name="Text 8"/>
          <p:cNvSpPr/>
          <p:nvPr/>
        </p:nvSpPr>
        <p:spPr>
          <a:xfrm>
            <a:off x="1020233" y="4485481"/>
            <a:ext cx="4151037"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656"/>
                </a:solidFill>
                <a:latin typeface="IBM Plex Sans" pitchFamily="34" charset="0"/>
                <a:ea typeface="IBM Plex Sans" pitchFamily="34" charset="-122"/>
                <a:cs typeface="IBM Plex Sans" pitchFamily="34" charset="-120"/>
              </a:rPr>
              <a:t>Channel, country and premium-supply explanations. The $1,217 Pix adjustment is an estimate, not a correction.</a:t>
            </a:r>
            <a:endParaRPr lang="en-US" sz="1500" dirty="0"/>
          </a:p>
        </p:txBody>
      </p:sp>
      <p:sp>
        <p:nvSpPr>
          <p:cNvPr id="11" name="Text 9"/>
          <p:cNvSpPr/>
          <p:nvPr/>
        </p:nvSpPr>
        <p:spPr>
          <a:xfrm>
            <a:off x="5664200" y="1772841"/>
            <a:ext cx="588645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Source Serif 4" pitchFamily="18" charset="0"/>
                <a:ea typeface="Source Serif 4" pitchFamily="18" charset="-122"/>
                <a:cs typeface="Source Serif 4" pitchFamily="18" charset="-120"/>
              </a:rPr>
              <a:t>Open questions</a:t>
            </a:r>
            <a:endParaRPr lang="en-US" sz="2000" dirty="0"/>
          </a:p>
        </p:txBody>
      </p:sp>
      <p:sp>
        <p:nvSpPr>
          <p:cNvPr id="12" name="Text 10"/>
          <p:cNvSpPr/>
          <p:nvPr/>
        </p:nvSpPr>
        <p:spPr>
          <a:xfrm>
            <a:off x="5735320" y="2230041"/>
            <a:ext cx="5807710" cy="3225800"/>
          </a:xfrm>
          <a:prstGeom prst="rect">
            <a:avLst/>
          </a:prstGeom>
          <a:noFill/>
          <a:ln/>
        </p:spPr>
        <p:txBody>
          <a:bodyPr wrap="square" lIns="0" tIns="0" rIns="0" bIns="0" rtlCol="0" anchor="t">
            <a:normAutofit/>
          </a:bodyPr>
          <a:lstStyle/>
          <a:p>
            <a:pPr algn="l" marL="182880" indent="-182880">
              <a:lnSpc>
                <a:spcPts val="2100"/>
              </a:lnSpc>
              <a:buSzPct val="100000"/>
              <a:buChar char="•"/>
            </a:pPr>
            <a:r>
              <a:rPr lang="en-US" sz="1500" dirty="0">
                <a:solidFill>
                  <a:srgbClr val="3D4656"/>
                </a:solidFill>
                <a:latin typeface="IBM Plex Sans" pitchFamily="34" charset="0"/>
                <a:ea typeface="IBM Plex Sans" pitchFamily="34" charset="-122"/>
                <a:cs typeface="IBM Plex Sans" pitchFamily="34" charset="-120"/>
              </a:rPr>
              <a:t>Are the Pix amounts a local offer or a billing error? Needs product and currency data.</a:t>
            </a:r>
            <a:endParaRPr lang="en-US" sz="1500" dirty="0"/>
          </a:p>
          <a:p>
            <a:pPr algn="l" marL="182880" indent="-182880">
              <a:lnSpc>
                <a:spcPts val="2100"/>
              </a:lnSpc>
              <a:buSzPct val="100000"/>
              <a:buChar char="•"/>
            </a:pPr>
            <a:r>
              <a:rPr lang="en-US" sz="1500" dirty="0">
                <a:solidFill>
                  <a:srgbClr val="3D4656"/>
                </a:solidFill>
                <a:latin typeface="IBM Plex Sans" pitchFamily="34" charset="0"/>
                <a:ea typeface="IBM Plex Sans" pitchFamily="34" charset="-122"/>
                <a:cs typeface="IBM Plex Sans" pitchFamily="34" charset="-120"/>
              </a:rPr>
              <a:t>Why did Pix, Oxxo and PSE payments fail? Needs processor decline codes.</a:t>
            </a:r>
            <a:endParaRPr lang="en-US" sz="1500" dirty="0"/>
          </a:p>
          <a:p>
            <a:pPr algn="l" marL="182880" indent="-182880">
              <a:lnSpc>
                <a:spcPts val="2100"/>
              </a:lnSpc>
              <a:buSzPct val="100000"/>
              <a:buChar char="•"/>
            </a:pPr>
            <a:r>
              <a:rPr lang="en-US" sz="1500" dirty="0">
                <a:solidFill>
                  <a:srgbClr val="3D4656"/>
                </a:solidFill>
                <a:latin typeface="IBM Plex Sans" pitchFamily="34" charset="0"/>
                <a:ea typeface="IBM Plex Sans" pitchFamily="34" charset="-122"/>
                <a:cs typeface="IBM Plex Sans" pitchFamily="34" charset="-120"/>
              </a:rPr>
              <a:t>Are session-only users real people? The data has no bot or test flag.</a:t>
            </a:r>
            <a:endParaRPr lang="en-US" sz="1500" dirty="0"/>
          </a:p>
          <a:p>
            <a:pPr algn="l" marL="182880" indent="-182880">
              <a:lnSpc>
                <a:spcPts val="2100"/>
              </a:lnSpc>
              <a:buSzPct val="100000"/>
              <a:buChar char="•"/>
            </a:pPr>
            <a:r>
              <a:rPr lang="en-US" sz="1500" dirty="0">
                <a:solidFill>
                  <a:srgbClr val="3D4656"/>
                </a:solidFill>
                <a:latin typeface="IBM Plex Sans" pitchFamily="34" charset="0"/>
                <a:ea typeface="IBM Plex Sans" pitchFamily="34" charset="-122"/>
                <a:cs typeface="IBM Plex Sans" pitchFamily="34" charset="-120"/>
              </a:rPr>
              <a:t>Which cause matters most? These are patterns; nothing here isolates causes.</a:t>
            </a:r>
            <a:endParaRPr lang="en-US" sz="1500" dirty="0"/>
          </a:p>
          <a:p>
            <a:pPr algn="l" marL="182880" indent="-182880">
              <a:lnSpc>
                <a:spcPts val="2100"/>
              </a:lnSpc>
              <a:buSzPct val="100000"/>
              <a:buChar char="•"/>
            </a:pPr>
            <a:r>
              <a:rPr lang="en-US" sz="1500" dirty="0">
                <a:solidFill>
                  <a:srgbClr val="3D4656"/>
                </a:solidFill>
                <a:latin typeface="IBM Plex Sans" pitchFamily="34" charset="0"/>
                <a:ea typeface="IBM Plex Sans" pitchFamily="34" charset="-122"/>
                <a:cs typeface="IBM Plex Sans" pitchFamily="34" charset="-120"/>
              </a:rPr>
              <a:t>How did the quarter move month by month? The figures compare quarter totals.</a:t>
            </a:r>
            <a:endParaRPr lang="en-US" sz="1500" dirty="0"/>
          </a:p>
          <a:p>
            <a:pPr algn="l" marL="182880" indent="-182880">
              <a:lnSpc>
                <a:spcPts val="2100"/>
              </a:lnSpc>
              <a:buSzPct val="100000"/>
              <a:buChar char="•"/>
            </a:pPr>
            <a:r>
              <a:rPr lang="en-US" sz="1500" dirty="0">
                <a:solidFill>
                  <a:srgbClr val="3D4656"/>
                </a:solidFill>
                <a:latin typeface="IBM Plex Sans" pitchFamily="34" charset="0"/>
                <a:ea typeface="IBM Plex Sans" pitchFamily="34" charset="-122"/>
                <a:cs typeface="IBM Plex Sans" pitchFamily="34" charset="-120"/>
              </a:rPr>
              <a:t>Revenue recognition, payment fees and campaign attribution aren’t in the data.</a:t>
            </a:r>
            <a:endParaRPr lang="en-US" sz="1500" dirty="0"/>
          </a:p>
        </p:txBody>
      </p:sp>
      <p:sp>
        <p:nvSpPr>
          <p:cNvPr id="13" name="Text 11"/>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PocketToons · Q3 2026 board update</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DEAE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4C18"/>
                </a:solidFill>
                <a:latin typeface="IBM Plex Sans" pitchFamily="34" charset="0"/>
                <a:ea typeface="IBM Plex Sans" pitchFamily="34" charset="-122"/>
                <a:cs typeface="IBM Plex Sans" pitchFamily="34" charset="-120"/>
              </a:rPr>
              <a:t>APPENDIX</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ource Serif 4" pitchFamily="18" charset="0"/>
                <a:ea typeface="Source Serif 4" pitchFamily="18" charset="-122"/>
                <a:cs typeface="Source Serif 4" pitchFamily="18" charset="-120"/>
              </a:rPr>
              <a:t>How this analysis was produced</a:t>
            </a:r>
            <a:endParaRPr lang="en-US" sz="3200" dirty="0"/>
          </a:p>
        </p:txBody>
      </p:sp>
      <p:sp>
        <p:nvSpPr>
          <p:cNvPr id="4" name="Text 2"/>
          <p:cNvSpPr/>
          <p:nvPr/>
        </p:nvSpPr>
        <p:spPr>
          <a:xfrm>
            <a:off x="812800" y="1772841"/>
            <a:ext cx="614807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Source Serif 4" pitchFamily="18" charset="0"/>
                <a:ea typeface="Source Serif 4" pitchFamily="18" charset="-122"/>
                <a:cs typeface="Source Serif 4" pitchFamily="18" charset="-120"/>
              </a:rPr>
              <a:t>Definitions</a:t>
            </a:r>
            <a:endParaRPr lang="en-US" sz="2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191941"/>
          <a:ext cx="5956300" cy="2635845"/>
        </p:xfrm>
        <a:graphic>
          <a:graphicData uri="http://schemas.openxmlformats.org/drawingml/2006/table">
            <a:tbl>
              <a:tblPr/>
              <a:tblGrid>
                <a:gridCol w="1429512"/>
                <a:gridCol w="4526788"/>
              </a:tblGrid>
              <a:tr h="332647">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Term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BBB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Meaning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Q2, Q3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Apr 1–Jun 30 and Jul 1–Sep 30, 2026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r>
              <a:tr h="545968">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MAU</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Users with at least one session in the month; a quarter is the average of its three months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Viewer MAU</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The same, counting only users with at least one content view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r>
              <a:tr h="545968">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Net revenue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Successful charges, including negative refunds; failed attempts excluded. Not accounting revenue, and before app-store fees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r>
              <a:tr h="545968">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Payer conversion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Active user-months with a successful transaction, divided by all active user-months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BDBBB4"/>
                      </a:solidFill>
                      <a:prstDash val="solid"/>
                      <a:round/>
                      <a:headEnd type="none" w="med" len="med"/>
                      <a:tailEnd type="none" w="med" len="med"/>
                    </a:lnB>
                  </a:tcPr>
                </a:tc>
              </a:tr>
            </a:tbl>
          </a:graphicData>
        </a:graphic>
      </p:graphicFrame>
      <p:sp>
        <p:nvSpPr>
          <p:cNvPr id="6" name="Text 3"/>
          <p:cNvSpPr/>
          <p:nvPr/>
        </p:nvSpPr>
        <p:spPr>
          <a:xfrm>
            <a:off x="7188200" y="1772841"/>
            <a:ext cx="431673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Source Serif 4" pitchFamily="18" charset="0"/>
                <a:ea typeface="Source Serif 4" pitchFamily="18" charset="-122"/>
                <a:cs typeface="Source Serif 4" pitchFamily="18" charset="-120"/>
              </a:rPr>
              <a:t>How it was made</a:t>
            </a:r>
            <a:endParaRPr lang="en-US" sz="2000" dirty="0"/>
          </a:p>
        </p:txBody>
      </p:sp>
      <p:sp>
        <p:nvSpPr>
          <p:cNvPr id="7" name="Text 4"/>
          <p:cNvSpPr/>
          <p:nvPr/>
        </p:nvSpPr>
        <p:spPr>
          <a:xfrm>
            <a:off x="7188200" y="2179241"/>
            <a:ext cx="431673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6"/>
                </a:solidFill>
                <a:latin typeface="IBM Plex Sans" pitchFamily="34" charset="0"/>
                <a:ea typeface="IBM Plex Sans" pitchFamily="34" charset="-122"/>
                <a:cs typeface="IBM Plex Sans" pitchFamily="34" charset="-120"/>
              </a:rPr>
              <a:t>An AI analyst agent (Python, OpenAI gpt-6-luna) with read-only SQL access to six product tables.</a:t>
            </a:r>
            <a:endParaRPr lang="en-US" sz="1200" dirty="0"/>
          </a:p>
        </p:txBody>
      </p:sp>
      <p:sp>
        <p:nvSpPr>
          <p:cNvPr id="8" name="Text 5"/>
          <p:cNvSpPr/>
          <p:nvPr/>
        </p:nvSpPr>
        <p:spPr>
          <a:xfrm>
            <a:off x="7188200" y="2707481"/>
            <a:ext cx="43167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6"/>
                </a:solidFill>
                <a:latin typeface="IBM Plex Sans" pitchFamily="34" charset="0"/>
                <a:ea typeface="IBM Plex Sans" pitchFamily="34" charset="-122"/>
                <a:cs typeface="IBM Plex Sans" pitchFamily="34" charset="-120"/>
              </a:rPr>
              <a:t>31 queries · 14 model calls · $0.04 · 4.4 minutes.</a:t>
            </a:r>
            <a:endParaRPr lang="en-US" sz="1200" dirty="0"/>
          </a:p>
        </p:txBody>
      </p:sp>
      <p:sp>
        <p:nvSpPr>
          <p:cNvPr id="9" name="Text 6"/>
          <p:cNvSpPr/>
          <p:nvPr/>
        </p:nvSpPr>
        <p:spPr>
          <a:xfrm>
            <a:off x="7188200" y="3022402"/>
            <a:ext cx="431673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6"/>
                </a:solidFill>
                <a:latin typeface="IBM Plex Sans" pitchFamily="34" charset="0"/>
                <a:ea typeface="IBM Plex Sans" pitchFamily="34" charset="-122"/>
                <a:cs typeface="IBM Plex Sans" pitchFamily="34" charset="-120"/>
              </a:rPr>
              <a:t>An earlier run of the same agent on the same question reached the same headline and main findings. Its Pix adjustment was smaller (−7.5%) because it flagged only subscription amounts.</a:t>
            </a:r>
            <a:endParaRPr lang="en-US" sz="1200" dirty="0"/>
          </a:p>
        </p:txBody>
      </p:sp>
      <p:sp>
        <p:nvSpPr>
          <p:cNvPr id="10" name="Text 7"/>
          <p:cNvSpPr/>
          <p:nvPr/>
        </p:nvSpPr>
        <p:spPr>
          <a:xfrm>
            <a:off x="7188200" y="3977283"/>
            <a:ext cx="431673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6"/>
                </a:solidFill>
                <a:latin typeface="IBM Plex Sans" pitchFamily="34" charset="0"/>
                <a:ea typeface="IBM Plex Sans" pitchFamily="34" charset="-122"/>
                <a:cs typeface="IBM Plex Sans" pitchFamily="34" charset="-120"/>
              </a:rPr>
              <a:t>Every figure in this deck was re-computed independently with plain SQL (investigation/verify_run2.py).</a:t>
            </a:r>
            <a:endParaRPr lang="en-US" sz="1200" dirty="0"/>
          </a:p>
        </p:txBody>
      </p:sp>
      <p:sp>
        <p:nvSpPr>
          <p:cNvPr id="11" name="Text 8"/>
          <p:cNvSpPr/>
          <p:nvPr/>
        </p:nvSpPr>
        <p:spPr>
          <a:xfrm>
            <a:off x="7188200" y="4505523"/>
            <a:ext cx="431673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6"/>
                </a:solidFill>
                <a:latin typeface="IBM Plex Sans" pitchFamily="34" charset="0"/>
                <a:ea typeface="IBM Plex Sans" pitchFamily="34" charset="-122"/>
                <a:cs typeface="IBM Plex Sans" pitchFamily="34" charset="-120"/>
              </a:rPr>
              <a:t>Raw agent output: investigation/traces/, run 20261029_044042.</a:t>
            </a:r>
            <a:endParaRPr lang="en-US" sz="1200" dirty="0"/>
          </a:p>
        </p:txBody>
      </p:sp>
      <p:sp>
        <p:nvSpPr>
          <p:cNvPr id="12" name="Text 9"/>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PocketToons · Q3 2026 board update</a:t>
            </a:r>
            <a:endParaRPr lang="en-US" sz="1200" dirty="0"/>
          </a:p>
        </p:txBody>
      </p:sp>
      <p:sp>
        <p:nvSpPr>
          <p:cNvPr id="13" name="Text 1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theme/theme1.xml><?xml version="1.0" encoding="utf-8"?>
<a:theme xmlns:a="http://schemas.openxmlformats.org/drawingml/2006/main" name="PocketToons Q3 Board Update">
  <a:themeElements>
    <a:clrScheme name="PocketToons Q3 Board Update">
      <a:dk1>
        <a:srgbClr val="14213D"/>
      </a:dk1>
      <a:lt1>
        <a:srgbClr val="F6F4EF"/>
      </a:lt1>
      <a:dk2>
        <a:srgbClr val="4D566A"/>
      </a:dk2>
      <a:lt2>
        <a:srgbClr val="DFDFDD"/>
      </a:lt2>
      <a:accent1>
        <a:srgbClr val="B4521B"/>
      </a:accent1>
      <a:accent2>
        <a:srgbClr val="E07A3F"/>
      </a:accent2>
      <a:accent3>
        <a:srgbClr val="F0A06A"/>
      </a:accent3>
      <a:accent4>
        <a:srgbClr val="A84C18"/>
      </a:accent4>
      <a:accent5>
        <a:srgbClr val="5B6576"/>
      </a:accent5>
      <a:accent6>
        <a:srgbClr val="3D4656"/>
      </a:accent6>
      <a:hlink>
        <a:srgbClr val="0563C1"/>
      </a:hlink>
      <a:folHlink>
        <a:srgbClr val="954F72"/>
      </a:folHlink>
    </a:clrScheme>
    <a:fontScheme name="PocketToons Q3 Board Update">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PocketToons Q3 Board Update</dc:title>
  <dc:subject/>
  <dc:creator/>
  <cp:lastModifiedBy/>
  <cp:revision>1</cp:revision>
  <dcterms:created xsi:type="dcterms:W3CDTF">2026-10-28T23:54:50Z</dcterms:created>
  <dcterms:modified xsi:type="dcterms:W3CDTF">2026-10-28T23:54:50Z</dcterms:modified>
</cp:coreProperties>
</file>